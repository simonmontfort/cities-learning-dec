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63" r:id="rId2"/>
  </p:sldIdLst>
  <p:sldSz cx="43891200" cy="32918400"/>
  <p:notesSz cx="31954788" cy="50149125"/>
  <p:embeddedFontLst>
    <p:embeddedFont>
      <p:font typeface="CMU Sans Serif" panose="02000603000000000000" pitchFamily="2" charset="0"/>
      <p:regular r:id="rId5"/>
      <p:bold r:id="rId6"/>
      <p:italic r:id="rId7"/>
      <p:boldItalic r:id="rId8"/>
    </p:embeddedFont>
    <p:embeddedFont>
      <p:font typeface="CMU SANS SERIF MEDIUM" panose="02000603000000000000" pitchFamily="2" charset="0"/>
      <p:regular r:id="rId9"/>
    </p:embeddedFont>
  </p:embeddedFontLst>
  <p:custDataLst>
    <p:tags r:id="rId10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112" userDrawn="1">
          <p15:clr>
            <a:srgbClr val="A4A3A4"/>
          </p15:clr>
        </p15:guide>
        <p15:guide id="2" orient="horz" pos="528" userDrawn="1">
          <p15:clr>
            <a:srgbClr val="A4A3A4"/>
          </p15:clr>
        </p15:guide>
        <p15:guide id="3" orient="horz" pos="3533">
          <p15:clr>
            <a:srgbClr val="A4A3A4"/>
          </p15:clr>
        </p15:guide>
        <p15:guide id="4" orient="horz" pos="6246">
          <p15:clr>
            <a:srgbClr val="A4A3A4"/>
          </p15:clr>
        </p15:guide>
        <p15:guide id="5" pos="432" userDrawn="1">
          <p15:clr>
            <a:srgbClr val="A4A3A4"/>
          </p15:clr>
        </p15:guide>
        <p15:guide id="6" pos="6960" userDrawn="1">
          <p15:clr>
            <a:srgbClr val="A4A3A4"/>
          </p15:clr>
        </p15:guide>
        <p15:guide id="7" pos="6288" userDrawn="1">
          <p15:clr>
            <a:srgbClr val="A4A3A4"/>
          </p15:clr>
        </p15:guide>
        <p15:guide id="8" pos="13584">
          <p15:clr>
            <a:srgbClr val="A4A3A4"/>
          </p15:clr>
        </p15:guide>
        <p15:guide id="9" pos="14064">
          <p15:clr>
            <a:srgbClr val="A4A3A4"/>
          </p15:clr>
        </p15:guide>
        <p15:guide id="10" pos="20016" userDrawn="1">
          <p15:clr>
            <a:srgbClr val="A4A3A4"/>
          </p15:clr>
        </p15:guide>
        <p15:guide id="11" pos="20688" userDrawn="1">
          <p15:clr>
            <a:srgbClr val="A4A3A4"/>
          </p15:clr>
        </p15:guide>
        <p15:guide id="12" pos="2721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5795">
          <p15:clr>
            <a:srgbClr val="A4A3A4"/>
          </p15:clr>
        </p15:guide>
        <p15:guide id="2" pos="10065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3F5E"/>
    <a:srgbClr val="353941"/>
    <a:srgbClr val="2D3C50"/>
    <a:srgbClr val="A167B2"/>
    <a:srgbClr val="E64B3C"/>
    <a:srgbClr val="3F616D"/>
    <a:srgbClr val="047086"/>
    <a:srgbClr val="465772"/>
    <a:srgbClr val="EEEEEE"/>
    <a:srgbClr val="0596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99" autoAdjust="0"/>
    <p:restoredTop sz="95884" autoAdjust="0"/>
  </p:normalViewPr>
  <p:slideViewPr>
    <p:cSldViewPr>
      <p:cViewPr>
        <p:scale>
          <a:sx n="26" d="100"/>
          <a:sy n="26" d="100"/>
        </p:scale>
        <p:origin x="1752" y="-32"/>
      </p:cViewPr>
      <p:guideLst>
        <p:guide orient="horz" pos="20112"/>
        <p:guide orient="horz" pos="528"/>
        <p:guide orient="horz" pos="3533"/>
        <p:guide orient="horz" pos="6246"/>
        <p:guide pos="432"/>
        <p:guide pos="6960"/>
        <p:guide pos="6288"/>
        <p:guide pos="13584"/>
        <p:guide pos="14064"/>
        <p:guide pos="20016"/>
        <p:guide pos="20688"/>
        <p:guide pos="272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 varScale="1">
        <p:scale>
          <a:sx n="17" d="100"/>
          <a:sy n="17" d="100"/>
        </p:scale>
        <p:origin x="4416" y="178"/>
      </p:cViewPr>
      <p:guideLst>
        <p:guide orient="horz" pos="15795"/>
        <p:guide pos="10065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3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presProps" Target="presProps.xml"/><Relationship Id="rId5" Type="http://schemas.openxmlformats.org/officeDocument/2006/relationships/font" Target="fonts/font1.fntdata"/><Relationship Id="rId10" Type="http://schemas.openxmlformats.org/officeDocument/2006/relationships/tags" Target="tags/tag1.xml"/><Relationship Id="rId4" Type="http://schemas.openxmlformats.org/officeDocument/2006/relationships/handoutMaster" Target="handoutMasters/handoutMaster1.xml"/><Relationship Id="rId9" Type="http://schemas.openxmlformats.org/officeDocument/2006/relationships/font" Target="fonts/font5.fntdata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138049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17941925" y="0"/>
            <a:ext cx="141351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r"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47639288"/>
            <a:ext cx="138049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b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17941925" y="47639288"/>
            <a:ext cx="141351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b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r" defTabSz="4508500">
              <a:defRPr sz="6000"/>
            </a:lvl1pPr>
          </a:lstStyle>
          <a:p>
            <a:pPr>
              <a:defRPr/>
            </a:pPr>
            <a:fld id="{440C443C-8022-4F5D-8F2E-5133654FC91D}" type="slidenum">
              <a:rPr lang="en-AU"/>
              <a:pPr>
                <a:defRPr/>
              </a:pPr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97928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138049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17941925" y="0"/>
            <a:ext cx="141351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r"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378200" y="3757613"/>
            <a:ext cx="24996775" cy="187483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137025" y="24004588"/>
            <a:ext cx="23456900" cy="2251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</a:lstStyle>
          <a:p>
            <a:pPr lvl="0"/>
            <a:r>
              <a:rPr lang="en-AU" noProof="0"/>
              <a:t>Click to edit Master text styles</a:t>
            </a:r>
          </a:p>
          <a:p>
            <a:pPr lvl="1"/>
            <a:r>
              <a:rPr lang="en-AU" noProof="0"/>
              <a:t>Second level</a:t>
            </a:r>
          </a:p>
          <a:p>
            <a:pPr lvl="2"/>
            <a:r>
              <a:rPr lang="en-AU" noProof="0"/>
              <a:t>Third level</a:t>
            </a:r>
          </a:p>
          <a:p>
            <a:pPr lvl="3"/>
            <a:r>
              <a:rPr lang="en-AU" noProof="0"/>
              <a:t>Fourth level</a:t>
            </a:r>
          </a:p>
          <a:p>
            <a:pPr lvl="4"/>
            <a:r>
              <a:rPr lang="en-AU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47639288"/>
            <a:ext cx="138049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b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17941925" y="47639288"/>
            <a:ext cx="141351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b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r" defTabSz="4508500">
              <a:defRPr sz="6000"/>
            </a:lvl1pPr>
          </a:lstStyle>
          <a:p>
            <a:pPr>
              <a:defRPr/>
            </a:pPr>
            <a:fld id="{42207482-9F38-4AF6-9B91-768DCEDA59AC}" type="slidenum">
              <a:rPr lang="en-AU"/>
              <a:pPr>
                <a:defRPr/>
              </a:pPr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9079937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defPPr>
              <a:defRPr kern="1200" smtId="4294967295"/>
            </a:defPPr>
            <a:lvl1pPr defTabSz="450850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defTabSz="450850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defTabSz="450850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defTabSz="450850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defTabSz="450850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defTabSz="45085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defTabSz="45085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defTabSz="45085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defTabSz="45085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fld id="{842B0325-ACC9-488E-8876-C4E9E3B68AD8}" type="slidenum">
              <a:rPr lang="en-AU" sz="6000" smtClean="0"/>
              <a:t>1</a:t>
            </a:fld>
            <a:endParaRPr lang="en-AU" sz="6000"/>
          </a:p>
        </p:txBody>
      </p:sp>
      <p:sp>
        <p:nvSpPr>
          <p:cNvPr id="40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10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>
            <a:defPPr>
              <a:defRPr kern="1200" smtId="4294967295"/>
            </a:defPPr>
          </a:lstStyle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123" y="10226675"/>
            <a:ext cx="37306957" cy="7054850"/>
          </a:xfrm>
        </p:spPr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4245" y="18653125"/>
            <a:ext cx="30722711" cy="8413750"/>
          </a:xfrm>
        </p:spPr>
        <p:txBody>
          <a:bodyPr/>
          <a:lstStyle>
            <a:defPPr>
              <a:defRPr kern="1200" smtId="4294967295"/>
            </a:defPPr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0DA66E67-F948-4693-96A5-27BC239C04A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922583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 smtId="4294967295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0EC1B4D6-BEE2-4AF6-A92E-38CD68913D5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762665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1" y="21153439"/>
            <a:ext cx="37306957" cy="6537325"/>
          </a:xfrm>
        </p:spPr>
        <p:txBody>
          <a:bodyPr anchor="t"/>
          <a:lstStyle>
            <a:defPPr>
              <a:defRPr kern="1200" smtId="4294967295"/>
            </a:defPPr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1" y="13952538"/>
            <a:ext cx="37306957" cy="7200900"/>
          </a:xfrm>
        </p:spPr>
        <p:txBody>
          <a:bodyPr anchor="b"/>
          <a:lstStyle>
            <a:defPPr>
              <a:defRPr kern="1200" smtId="4294967295"/>
            </a:defPPr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D8650354-6837-43DB-843B-C6021BD2EF3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38210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93534" y="9509126"/>
            <a:ext cx="18584332" cy="19751675"/>
          </a:xfrm>
        </p:spPr>
        <p:txBody>
          <a:bodyPr/>
          <a:lstStyle>
            <a:defPPr>
              <a:defRPr kern="1200" smtId="4294967295"/>
            </a:defPPr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13334" y="9509126"/>
            <a:ext cx="18584332" cy="19751675"/>
          </a:xfrm>
        </p:spPr>
        <p:txBody>
          <a:bodyPr/>
          <a:lstStyle>
            <a:defPPr>
              <a:defRPr kern="1200" smtId="4294967295"/>
            </a:defPPr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4296FF25-ADB1-4315-9622-9852994CD1E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09162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279" y="1317625"/>
            <a:ext cx="39502643" cy="5486400"/>
          </a:xfrm>
        </p:spPr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4278" y="7369176"/>
            <a:ext cx="19392900" cy="3070225"/>
          </a:xfrm>
        </p:spPr>
        <p:txBody>
          <a:bodyPr anchor="b"/>
          <a:lstStyle>
            <a:defPPr>
              <a:defRPr kern="1200" smtId="4294967295"/>
            </a:defPPr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4278" y="10439400"/>
            <a:ext cx="19392900" cy="18965862"/>
          </a:xfrm>
        </p:spPr>
        <p:txBody>
          <a:bodyPr/>
          <a:lstStyle>
            <a:defPPr>
              <a:defRPr kern="1200" smtId="4294967295"/>
            </a:defPPr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5555" y="7369176"/>
            <a:ext cx="19401368" cy="3070225"/>
          </a:xfrm>
        </p:spPr>
        <p:txBody>
          <a:bodyPr anchor="b"/>
          <a:lstStyle>
            <a:defPPr>
              <a:defRPr kern="1200" smtId="4294967295"/>
            </a:defPPr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5555" y="10439400"/>
            <a:ext cx="19401368" cy="18965862"/>
          </a:xfrm>
        </p:spPr>
        <p:txBody>
          <a:bodyPr/>
          <a:lstStyle>
            <a:defPPr>
              <a:defRPr kern="1200" smtId="4294967295"/>
            </a:defPPr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72EF82B1-171C-4CAC-B9C4-22062286C8C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223922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678F620B-8934-45A0-BE2C-EF6C76032C4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386339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A3ECE3F5-A3DD-46D3-8112-19EE7FD1DDF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425270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>
        <p15:guide id="1" orient="horz" pos="10368" userDrawn="1">
          <p15:clr>
            <a:srgbClr val="FBAE40"/>
          </p15:clr>
        </p15:guide>
        <p15:guide id="2" pos="1382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278" y="1311275"/>
            <a:ext cx="14439900" cy="5576888"/>
          </a:xfrm>
        </p:spPr>
        <p:txBody>
          <a:bodyPr anchor="b"/>
          <a:lstStyle>
            <a:defPPr>
              <a:defRPr kern="1200" smtId="4294967295"/>
            </a:defPPr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523" y="1311275"/>
            <a:ext cx="24536400" cy="28093988"/>
          </a:xfrm>
        </p:spPr>
        <p:txBody>
          <a:bodyPr/>
          <a:lstStyle>
            <a:defPPr>
              <a:defRPr kern="1200" smtId="4294967295"/>
            </a:defPPr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4278" y="6888163"/>
            <a:ext cx="14439900" cy="22517100"/>
          </a:xfrm>
        </p:spPr>
        <p:txBody>
          <a:bodyPr/>
          <a:lstStyle>
            <a:defPPr>
              <a:defRPr kern="1200" smtId="4294967295"/>
            </a:defPPr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96691E56-DA67-4BF5-BA67-706F30B370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89561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3545" y="23042564"/>
            <a:ext cx="26334157" cy="2720975"/>
          </a:xfrm>
        </p:spPr>
        <p:txBody>
          <a:bodyPr anchor="b"/>
          <a:lstStyle>
            <a:defPPr>
              <a:defRPr kern="1200" smtId="4294967295"/>
            </a:defPPr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3545" y="2941638"/>
            <a:ext cx="26334157" cy="19750088"/>
          </a:xfrm>
        </p:spPr>
        <p:txBody>
          <a:bodyPr/>
          <a:lstStyle>
            <a:defPPr>
              <a:defRPr kern="1200" smtId="4294967295"/>
            </a:defPPr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3545" y="25763539"/>
            <a:ext cx="26334157" cy="3862387"/>
          </a:xfrm>
        </p:spPr>
        <p:txBody>
          <a:bodyPr/>
          <a:lstStyle>
            <a:defPPr>
              <a:defRPr kern="1200" smtId="4294967295"/>
            </a:defPPr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87F51DAE-E528-43E1-8BE0-91521416EF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2948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 smtId="4294967295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2DA27A25-0059-41B6-A6E5-54D93C1080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187469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271635" y="2925763"/>
            <a:ext cx="9326033" cy="26335038"/>
          </a:xfrm>
        </p:spPr>
        <p:txBody>
          <a:bodyPr vert="eaVert"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93534" y="2925763"/>
            <a:ext cx="27842635" cy="26335038"/>
          </a:xfrm>
        </p:spPr>
        <p:txBody>
          <a:bodyPr vert="eaVert"/>
          <a:lstStyle>
            <a:defPPr>
              <a:defRPr kern="1200" smtId="4294967295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pPr>
              <a:defRPr/>
            </a:pPr>
            <a:fld id="{043B26BC-A2E6-4CDA-9F76-12293F26600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18540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96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294063" y="2925763"/>
            <a:ext cx="37303075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26714" tIns="213357" rIns="426714" bIns="213357" anchor="ctr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294063" y="9509125"/>
            <a:ext cx="37303075" cy="1975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26714" tIns="213357" rIns="426714" bIns="213357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3294063" y="29992638"/>
            <a:ext cx="9144000" cy="219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26714" tIns="213357" rIns="426714" bIns="213357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defTabSz="4267200">
              <a:defRPr sz="65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3938" y="29992638"/>
            <a:ext cx="13903325" cy="219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26714" tIns="213357" rIns="426714" bIns="213357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ctr" defTabSz="4267200">
              <a:defRPr sz="65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138" y="29992638"/>
            <a:ext cx="9144000" cy="219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26714" tIns="213357" rIns="426714" bIns="213357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r" defTabSz="4267200">
              <a:defRPr sz="6500"/>
            </a:lvl1pPr>
          </a:lstStyle>
          <a:p>
            <a:pPr>
              <a:defRPr/>
            </a:pPr>
            <a:fld id="{469A0CB4-D18D-4AEF-B324-9EDF067D13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 smtId="4294967295"/>
      </a:defPPr>
      <a:lvl1pPr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+mj-lt"/>
          <a:ea typeface="+mj-ea"/>
          <a:cs typeface="+mj-cs"/>
        </a:defRPr>
      </a:lvl1pPr>
      <a:lvl2pPr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2pPr>
      <a:lvl3pPr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3pPr>
      <a:lvl4pPr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4pPr>
      <a:lvl5pPr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5pPr>
      <a:lvl6pPr marL="457200"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6pPr>
      <a:lvl7pPr marL="914400"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7pPr>
      <a:lvl8pPr marL="1371600"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8pPr>
      <a:lvl9pPr marL="1828800" algn="ctr" defTabSz="4267200" rtl="0" eaLnBrk="0" fontAlgn="base" hangingPunct="0">
        <a:spcBef>
          <a:spcPct val="0"/>
        </a:spcBef>
        <a:spcAft>
          <a:spcPct val="0"/>
        </a:spcAft>
        <a:defRPr sz="20500">
          <a:solidFill>
            <a:schemeClr val="tx2"/>
          </a:solidFill>
          <a:latin typeface="Times New Roman" pitchFamily="18" charset="0"/>
        </a:defRPr>
      </a:lvl9pPr>
    </p:titleStyle>
    <p:bodyStyle>
      <a:defPPr>
        <a:defRPr kern="1200" smtId="4294967295"/>
      </a:defPPr>
      <a:lvl1pPr marL="1600200" indent="-1600200" algn="l" defTabSz="4267200" rtl="0" eaLnBrk="0" fontAlgn="base" hangingPunct="0">
        <a:spcBef>
          <a:spcPct val="20000"/>
        </a:spcBef>
        <a:spcAft>
          <a:spcPct val="0"/>
        </a:spcAft>
        <a:buChar char="•"/>
        <a:defRPr sz="14900">
          <a:solidFill>
            <a:schemeClr val="tx1"/>
          </a:solidFill>
          <a:latin typeface="+mn-lt"/>
          <a:ea typeface="+mn-ea"/>
          <a:cs typeface="+mn-cs"/>
        </a:defRPr>
      </a:lvl1pPr>
      <a:lvl2pPr marL="3467100" indent="-1333500" algn="l" defTabSz="4267200" rtl="0" eaLnBrk="0" fontAlgn="base" hangingPunct="0">
        <a:spcBef>
          <a:spcPct val="20000"/>
        </a:spcBef>
        <a:spcAft>
          <a:spcPct val="0"/>
        </a:spcAft>
        <a:buChar char="–"/>
        <a:defRPr sz="13100">
          <a:solidFill>
            <a:schemeClr val="tx1"/>
          </a:solidFill>
          <a:latin typeface="+mn-lt"/>
        </a:defRPr>
      </a:lvl2pPr>
      <a:lvl3pPr marL="5334000" indent="-1066800" algn="l" defTabSz="4267200" rtl="0" eaLnBrk="0" fontAlgn="base" hangingPunct="0">
        <a:spcBef>
          <a:spcPct val="20000"/>
        </a:spcBef>
        <a:spcAft>
          <a:spcPct val="0"/>
        </a:spcAft>
        <a:buChar char="•"/>
        <a:defRPr sz="11200">
          <a:solidFill>
            <a:schemeClr val="tx1"/>
          </a:solidFill>
          <a:latin typeface="+mn-lt"/>
        </a:defRPr>
      </a:lvl3pPr>
      <a:lvl4pPr marL="7467600" indent="-1066800" algn="l" defTabSz="4267200" rtl="0" eaLnBrk="0" fontAlgn="base" hangingPunct="0">
        <a:spcBef>
          <a:spcPct val="20000"/>
        </a:spcBef>
        <a:spcAft>
          <a:spcPct val="0"/>
        </a:spcAft>
        <a:buChar char="–"/>
        <a:defRPr sz="9300">
          <a:solidFill>
            <a:schemeClr val="tx1"/>
          </a:solidFill>
          <a:latin typeface="+mn-lt"/>
        </a:defRPr>
      </a:lvl4pPr>
      <a:lvl5pPr marL="9601200" indent="-1066800" algn="l" defTabSz="4267200" rtl="0" eaLnBrk="0" fontAlgn="base" hangingPunct="0">
        <a:spcBef>
          <a:spcPct val="20000"/>
        </a:spcBef>
        <a:spcAft>
          <a:spcPct val="0"/>
        </a:spcAft>
        <a:buChar char="»"/>
        <a:defRPr sz="9300">
          <a:solidFill>
            <a:schemeClr val="tx1"/>
          </a:solidFill>
          <a:latin typeface="+mn-lt"/>
        </a:defRPr>
      </a:lvl5pPr>
      <a:lvl6pPr marL="10058400" indent="-1066800" algn="l" defTabSz="4267200" rtl="0" eaLnBrk="0" fontAlgn="base" hangingPunct="0">
        <a:spcBef>
          <a:spcPct val="20000"/>
        </a:spcBef>
        <a:spcAft>
          <a:spcPct val="0"/>
        </a:spcAft>
        <a:buChar char="»"/>
        <a:defRPr sz="9300">
          <a:solidFill>
            <a:schemeClr val="tx1"/>
          </a:solidFill>
          <a:latin typeface="+mn-lt"/>
        </a:defRPr>
      </a:lvl6pPr>
      <a:lvl7pPr marL="10515600" indent="-1066800" algn="l" defTabSz="4267200" rtl="0" eaLnBrk="0" fontAlgn="base" hangingPunct="0">
        <a:spcBef>
          <a:spcPct val="20000"/>
        </a:spcBef>
        <a:spcAft>
          <a:spcPct val="0"/>
        </a:spcAft>
        <a:buChar char="»"/>
        <a:defRPr sz="9300">
          <a:solidFill>
            <a:schemeClr val="tx1"/>
          </a:solidFill>
          <a:latin typeface="+mn-lt"/>
        </a:defRPr>
      </a:lvl7pPr>
      <a:lvl8pPr marL="10972800" indent="-1066800" algn="l" defTabSz="4267200" rtl="0" eaLnBrk="0" fontAlgn="base" hangingPunct="0">
        <a:spcBef>
          <a:spcPct val="20000"/>
        </a:spcBef>
        <a:spcAft>
          <a:spcPct val="0"/>
        </a:spcAft>
        <a:buChar char="»"/>
        <a:defRPr sz="9300">
          <a:solidFill>
            <a:schemeClr val="tx1"/>
          </a:solidFill>
          <a:latin typeface="+mn-lt"/>
        </a:defRPr>
      </a:lvl8pPr>
      <a:lvl9pPr marL="11430000" indent="-1066800" algn="l" defTabSz="4267200" rtl="0" eaLnBrk="0" fontAlgn="base" hangingPunct="0">
        <a:spcBef>
          <a:spcPct val="20000"/>
        </a:spcBef>
        <a:spcAft>
          <a:spcPct val="0"/>
        </a:spcAft>
        <a:buChar char="»"/>
        <a:defRPr sz="93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emf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emf"/><Relationship Id="rId15" Type="http://schemas.openxmlformats.org/officeDocument/2006/relationships/image" Target="../media/image13.emf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F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2C718E78-BDD8-4BAD-851F-D423AE935B0D}"/>
              </a:ext>
            </a:extLst>
          </p:cNvPr>
          <p:cNvSpPr/>
          <p:nvPr/>
        </p:nvSpPr>
        <p:spPr>
          <a:xfrm>
            <a:off x="15240" y="0"/>
            <a:ext cx="9966869" cy="32918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 smtId="4294967295"/>
            </a:defPPr>
          </a:lstStyle>
          <a:p>
            <a:pPr algn="ctr"/>
            <a:endParaRPr lang="en-US" sz="9600" dirty="0">
              <a:latin typeface="+mj-lt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6F01C5-886B-0072-1FB1-33A45FCEECF7}"/>
              </a:ext>
            </a:extLst>
          </p:cNvPr>
          <p:cNvSpPr txBox="1"/>
          <p:nvPr/>
        </p:nvSpPr>
        <p:spPr>
          <a:xfrm>
            <a:off x="11080514" y="6324600"/>
            <a:ext cx="19704286" cy="123480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CH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962C1A-C4F3-4707-A73A-A754C935359B}"/>
              </a:ext>
            </a:extLst>
          </p:cNvPr>
          <p:cNvSpPr/>
          <p:nvPr/>
        </p:nvSpPr>
        <p:spPr>
          <a:xfrm>
            <a:off x="31800359" y="0"/>
            <a:ext cx="12090841" cy="329240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 smtId="4294967295"/>
            </a:defPPr>
          </a:lstStyle>
          <a:p>
            <a:pPr algn="ctr"/>
            <a:r>
              <a:rPr lang="en-US" sz="96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energy</a:t>
            </a:r>
            <a:endParaRPr lang="en-US" sz="9600" dirty="0">
              <a:latin typeface="+mj-lt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067F8A1-EE95-4354-8E2F-952A6BBDBFFC}"/>
              </a:ext>
            </a:extLst>
          </p:cNvPr>
          <p:cNvSpPr txBox="1"/>
          <p:nvPr/>
        </p:nvSpPr>
        <p:spPr>
          <a:xfrm>
            <a:off x="670853" y="1524000"/>
            <a:ext cx="8991600" cy="5697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pPr marL="366713" indent="-366713">
              <a:lnSpc>
                <a:spcPts val="55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Cities play a crucial role in addressing climate change close to where people live.</a:t>
            </a:r>
          </a:p>
          <a:p>
            <a:pPr marL="366713" indent="-366713">
              <a:lnSpc>
                <a:spcPts val="55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76% of cities are covered by no more than one study – a large gap to guide action.</a:t>
            </a:r>
          </a:p>
          <a:p>
            <a:pPr marL="366713" indent="-366713">
              <a:lnSpc>
                <a:spcPts val="55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Nobel laureate Elinor Ostrom emphasized decentralized experimentation and learning from local successes, but a systematic analysis remains lacking.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D5F59B-F8CA-463C-871F-D1042309DE00}"/>
              </a:ext>
            </a:extLst>
          </p:cNvPr>
          <p:cNvSpPr txBox="1"/>
          <p:nvPr/>
        </p:nvSpPr>
        <p:spPr>
          <a:xfrm>
            <a:off x="533400" y="762000"/>
            <a:ext cx="8991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r>
              <a:rPr lang="en-US" sz="4800" dirty="0">
                <a:solidFill>
                  <a:srgbClr val="1C3F5E"/>
                </a:solidFill>
                <a:latin typeface="CMU Sans Serif Medium" panose="02000603000000000000" pitchFamily="2" charset="0"/>
              </a:rPr>
              <a:t>Introduction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16F17B6-B5C7-4922-B9E2-CD14BD16A568}"/>
              </a:ext>
            </a:extLst>
          </p:cNvPr>
          <p:cNvSpPr txBox="1"/>
          <p:nvPr/>
        </p:nvSpPr>
        <p:spPr>
          <a:xfrm>
            <a:off x="688851" y="10287000"/>
            <a:ext cx="8991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r>
              <a:rPr lang="en-US" sz="4800" dirty="0">
                <a:solidFill>
                  <a:srgbClr val="1C3F5E"/>
                </a:solidFill>
                <a:latin typeface="CMU Sans Serif Medium" panose="02000603000000000000" pitchFamily="2" charset="0"/>
              </a:rPr>
              <a:t>Methods</a:t>
            </a:r>
          </a:p>
        </p:txBody>
      </p:sp>
      <p:pic>
        <p:nvPicPr>
          <p:cNvPr id="15" name="Picture 14" descr="Shape&#10;&#10;Description automatically generated with low confidence">
            <a:extLst>
              <a:ext uri="{FF2B5EF4-FFF2-40B4-BE49-F238E27FC236}">
                <a16:creationId xmlns:a16="http://schemas.microsoft.com/office/drawing/2014/main" id="{ADDB59EE-4F3C-2897-E5AC-B4D7A90D00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34775" y="30154200"/>
            <a:ext cx="1777598" cy="1777598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06B438FB-652E-AD52-9D04-9CAC097727AD}"/>
              </a:ext>
            </a:extLst>
          </p:cNvPr>
          <p:cNvSpPr txBox="1"/>
          <p:nvPr/>
        </p:nvSpPr>
        <p:spPr>
          <a:xfrm>
            <a:off x="685803" y="7467600"/>
            <a:ext cx="8991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r>
              <a:rPr lang="en-US" sz="4800" dirty="0">
                <a:solidFill>
                  <a:srgbClr val="1C3F5E"/>
                </a:solidFill>
                <a:latin typeface="CMU Sans Serif Medium" panose="02000603000000000000" pitchFamily="2" charset="0"/>
              </a:rPr>
              <a:t>Research Question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27CED52-6EF9-BD93-4FFF-E8F6BAC464BB}"/>
              </a:ext>
            </a:extLst>
          </p:cNvPr>
          <p:cNvSpPr txBox="1"/>
          <p:nvPr/>
        </p:nvSpPr>
        <p:spPr>
          <a:xfrm>
            <a:off x="32846400" y="21717000"/>
            <a:ext cx="92934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r>
              <a:rPr lang="en-US" sz="4800" dirty="0">
                <a:solidFill>
                  <a:srgbClr val="1C3F5E"/>
                </a:solidFill>
                <a:latin typeface="CMU Sans Serif Medium" panose="02000603000000000000" pitchFamily="2" charset="0"/>
              </a:rPr>
              <a:t>Conclusion</a:t>
            </a:r>
          </a:p>
        </p:txBody>
      </p:sp>
      <p:sp>
        <p:nvSpPr>
          <p:cNvPr id="75" name="Title 11">
            <a:extLst>
              <a:ext uri="{FF2B5EF4-FFF2-40B4-BE49-F238E27FC236}">
                <a16:creationId xmlns:a16="http://schemas.microsoft.com/office/drawing/2014/main" id="{1C9E3D37-DC9E-9F7D-B183-83C779F5058B}"/>
              </a:ext>
            </a:extLst>
          </p:cNvPr>
          <p:cNvSpPr txBox="1"/>
          <p:nvPr/>
        </p:nvSpPr>
        <p:spPr>
          <a:xfrm>
            <a:off x="32796000" y="29064680"/>
            <a:ext cx="5105400" cy="881920"/>
          </a:xfrm>
          <a:prstGeom prst="rect">
            <a:avLst/>
          </a:prstGeom>
        </p:spPr>
        <p:txBody>
          <a:bodyPr lIns="128016" tIns="64008" rIns="128016" bIns="64008"/>
          <a:lstStyle>
            <a:defPPr>
              <a:defRPr kern="1200" smtId="4294967295"/>
            </a:defPPr>
            <a:lvl1pPr algn="ctr" defTabSz="4389028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00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</a:rPr>
              <a:t>Scan me to </a:t>
            </a:r>
            <a:br>
              <a:rPr lang="en-US" sz="3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</a:rPr>
            </a:br>
            <a:r>
              <a:rPr lang="en-US" sz="30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</a:rPr>
              <a:t>download the full paper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7B3795B-8834-6627-AE2C-DC35E2A4B288}"/>
              </a:ext>
            </a:extLst>
          </p:cNvPr>
          <p:cNvSpPr txBox="1"/>
          <p:nvPr/>
        </p:nvSpPr>
        <p:spPr>
          <a:xfrm>
            <a:off x="747055" y="23012400"/>
            <a:ext cx="8873876" cy="35811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pPr marL="603250" indent="-571500">
              <a:lnSpc>
                <a:spcPts val="5500"/>
              </a:lnSpc>
              <a:buFont typeface="Wingdings" pitchFamily="2" charset="2"/>
              <a:buChar char="à"/>
              <a:tabLst>
                <a:tab pos="8355013" algn="l"/>
              </a:tabLst>
            </a:pPr>
            <a:r>
              <a:rPr lang="en-GB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  <a:sym typeface="Wingdings" pitchFamily="2" charset="2"/>
              </a:rPr>
              <a:t>Most comprehensive available evidence base linked to different city types</a:t>
            </a:r>
          </a:p>
          <a:p>
            <a:pPr marL="603250" indent="-571500">
              <a:lnSpc>
                <a:spcPts val="5500"/>
              </a:lnSpc>
              <a:buFont typeface="Wingdings" pitchFamily="2" charset="2"/>
              <a:buChar char="à"/>
              <a:tabLst>
                <a:tab pos="8355013" algn="l"/>
              </a:tabLst>
            </a:pPr>
            <a:r>
              <a:rPr lang="en-GB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  <a:sym typeface="Wingdings" pitchFamily="2" charset="2"/>
              </a:rPr>
              <a:t>Basis for a systematic selection and in-depth review of city case studies in the IPCC Special Report on Cities.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E1F2186-7271-BFBF-8D86-1B59AD40D56B}"/>
              </a:ext>
            </a:extLst>
          </p:cNvPr>
          <p:cNvSpPr txBox="1"/>
          <p:nvPr/>
        </p:nvSpPr>
        <p:spPr>
          <a:xfrm>
            <a:off x="32896233" y="22741787"/>
            <a:ext cx="10288492" cy="5697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pPr marL="571500" indent="-571500">
              <a:lnSpc>
                <a:spcPts val="55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We provide the most comprehensive currently available analysis of urban climate solutions for different types of cities.</a:t>
            </a:r>
          </a:p>
          <a:p>
            <a:pPr marL="571500" indent="-571500">
              <a:lnSpc>
                <a:spcPts val="55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We identify distinct challenges related to development, mitigation, urban planning, and compound challenges (mega all in).</a:t>
            </a:r>
          </a:p>
          <a:p>
            <a:pPr marL="571500" indent="-571500">
              <a:lnSpc>
                <a:spcPts val="55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Learning from case studies in similar cities could partly mitigate biases in the literature.</a:t>
            </a:r>
          </a:p>
        </p:txBody>
      </p:sp>
      <p:sp>
        <p:nvSpPr>
          <p:cNvPr id="22" name="Title 11">
            <a:extLst>
              <a:ext uri="{FF2B5EF4-FFF2-40B4-BE49-F238E27FC236}">
                <a16:creationId xmlns:a16="http://schemas.microsoft.com/office/drawing/2014/main" id="{056580DA-EAD8-CAE2-2B26-A34854C7D9A4}"/>
              </a:ext>
            </a:extLst>
          </p:cNvPr>
          <p:cNvSpPr txBox="1"/>
          <p:nvPr/>
        </p:nvSpPr>
        <p:spPr>
          <a:xfrm>
            <a:off x="10912251" y="4343400"/>
            <a:ext cx="20405949" cy="2057400"/>
          </a:xfrm>
          <a:prstGeom prst="rect">
            <a:avLst/>
          </a:prstGeom>
        </p:spPr>
        <p:txBody>
          <a:bodyPr lIns="128016" tIns="64008" rIns="128016" bIns="64008"/>
          <a:lstStyle>
            <a:defPPr>
              <a:defRPr kern="1200" smtId="4294967295"/>
            </a:defPPr>
            <a:lvl1pPr algn="ctr" defTabSz="4389028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60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Distinct climate change mitigation and adaptation challenges for 4 main types of cities across the globe</a:t>
            </a:r>
            <a:br>
              <a:rPr lang="en-US" sz="60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</a:br>
            <a:endParaRPr lang="en-US" sz="6000" dirty="0">
              <a:solidFill>
                <a:schemeClr val="bg1"/>
              </a:solidFill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sp>
        <p:nvSpPr>
          <p:cNvPr id="24" name="Title 11">
            <a:extLst>
              <a:ext uri="{FF2B5EF4-FFF2-40B4-BE49-F238E27FC236}">
                <a16:creationId xmlns:a16="http://schemas.microsoft.com/office/drawing/2014/main" id="{29FBB37B-45F6-8289-81D0-F439F80A83B2}"/>
              </a:ext>
            </a:extLst>
          </p:cNvPr>
          <p:cNvSpPr txBox="1"/>
          <p:nvPr/>
        </p:nvSpPr>
        <p:spPr>
          <a:xfrm>
            <a:off x="10896600" y="739515"/>
            <a:ext cx="19964399" cy="1546485"/>
          </a:xfrm>
          <a:prstGeom prst="rect">
            <a:avLst/>
          </a:prstGeom>
        </p:spPr>
        <p:txBody>
          <a:bodyPr lIns="128016" tIns="64008" rIns="128016" bIns="64008"/>
          <a:lstStyle>
            <a:defPPr>
              <a:defRPr kern="1200" smtId="4294967295"/>
            </a:defPPr>
            <a:lvl1pPr algn="ctr" defTabSz="4389028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7200" b="1" dirty="0">
                <a:solidFill>
                  <a:schemeClr val="bg1"/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rPr>
              <a:t>A global urban typology for transferable evidence-based climate solutions</a:t>
            </a:r>
          </a:p>
        </p:txBody>
      </p:sp>
      <p:sp>
        <p:nvSpPr>
          <p:cNvPr id="35" name="Title 11">
            <a:extLst>
              <a:ext uri="{FF2B5EF4-FFF2-40B4-BE49-F238E27FC236}">
                <a16:creationId xmlns:a16="http://schemas.microsoft.com/office/drawing/2014/main" id="{C270DD33-1D36-5BDA-8067-DB25FDC3BCFD}"/>
              </a:ext>
            </a:extLst>
          </p:cNvPr>
          <p:cNvSpPr txBox="1"/>
          <p:nvPr/>
        </p:nvSpPr>
        <p:spPr>
          <a:xfrm>
            <a:off x="10896600" y="3025515"/>
            <a:ext cx="19965600" cy="1546485"/>
          </a:xfrm>
          <a:prstGeom prst="rect">
            <a:avLst/>
          </a:prstGeom>
        </p:spPr>
        <p:txBody>
          <a:bodyPr lIns="128016" tIns="64008" rIns="128016" bIns="64008"/>
          <a:lstStyle>
            <a:defPPr>
              <a:defRPr kern="1200" smtId="4294967295"/>
            </a:defPPr>
            <a:lvl1pPr algn="ctr" defTabSz="4389028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dirty="0">
                <a:solidFill>
                  <a:schemeClr val="bg1"/>
                </a:solidFill>
                <a:latin typeface="CMU Sans Serif Medium" panose="02000603000000000000" pitchFamily="2" charset="0"/>
              </a:rPr>
              <a:t>Simon Montfort, Florian </a:t>
            </a:r>
            <a:r>
              <a:rPr lang="en-US" sz="3600" dirty="0" err="1">
                <a:solidFill>
                  <a:schemeClr val="bg1"/>
                </a:solidFill>
                <a:latin typeface="CMU Sans Serif Medium" panose="02000603000000000000" pitchFamily="2" charset="0"/>
              </a:rPr>
              <a:t>Nachtigall</a:t>
            </a:r>
            <a:r>
              <a:rPr lang="en-US" sz="3600">
                <a:solidFill>
                  <a:schemeClr val="bg1"/>
                </a:solidFill>
                <a:latin typeface="CMU Sans Serif Medium" panose="02000603000000000000" pitchFamily="2" charset="0"/>
              </a:rPr>
              <a:t>, Claudia R. </a:t>
            </a:r>
            <a:r>
              <a:rPr lang="en-US" sz="3600" dirty="0">
                <a:solidFill>
                  <a:schemeClr val="bg1"/>
                </a:solidFill>
                <a:latin typeface="CMU Sans Serif Medium" panose="02000603000000000000" pitchFamily="2" charset="0"/>
              </a:rPr>
              <a:t>Binder, Marta </a:t>
            </a:r>
            <a:r>
              <a:rPr lang="en-US" sz="3600" dirty="0" err="1">
                <a:solidFill>
                  <a:schemeClr val="bg1"/>
                </a:solidFill>
                <a:latin typeface="CMU Sans Serif Medium" panose="02000603000000000000" pitchFamily="2" charset="0"/>
              </a:rPr>
              <a:t>Olazabal</a:t>
            </a:r>
            <a:r>
              <a:rPr lang="en-US" sz="3600" dirty="0">
                <a:solidFill>
                  <a:schemeClr val="bg1"/>
                </a:solidFill>
                <a:latin typeface="CMU Sans Serif Medium" panose="02000603000000000000" pitchFamily="2" charset="0"/>
              </a:rPr>
              <a:t>, Tim </a:t>
            </a:r>
            <a:r>
              <a:rPr lang="en-US" sz="3600" dirty="0" err="1">
                <a:solidFill>
                  <a:schemeClr val="bg1"/>
                </a:solidFill>
                <a:latin typeface="CMU Sans Serif Medium" panose="02000603000000000000" pitchFamily="2" charset="0"/>
              </a:rPr>
              <a:t>Repke</a:t>
            </a:r>
            <a:r>
              <a:rPr lang="en-US" sz="3600" dirty="0">
                <a:solidFill>
                  <a:schemeClr val="bg1"/>
                </a:solidFill>
                <a:latin typeface="CMU Sans Serif Medium" panose="02000603000000000000" pitchFamily="2" charset="0"/>
              </a:rPr>
              <a:t>, Felix </a:t>
            </a:r>
            <a:r>
              <a:rPr lang="en-US" sz="3600" dirty="0" err="1">
                <a:solidFill>
                  <a:schemeClr val="bg1"/>
                </a:solidFill>
                <a:latin typeface="CMU Sans Serif Medium" panose="02000603000000000000" pitchFamily="2" charset="0"/>
              </a:rPr>
              <a:t>Creutzig</a:t>
            </a:r>
            <a:endParaRPr lang="en-US" sz="3600" dirty="0">
              <a:solidFill>
                <a:schemeClr val="bg1"/>
              </a:solidFill>
              <a:latin typeface="CMU Sans Serif Medium" panose="02000603000000000000" pitchFamily="2" charset="0"/>
            </a:endParaRPr>
          </a:p>
        </p:txBody>
      </p:sp>
      <p:pic>
        <p:nvPicPr>
          <p:cNvPr id="39" name="Picture 2">
            <a:extLst>
              <a:ext uri="{FF2B5EF4-FFF2-40B4-BE49-F238E27FC236}">
                <a16:creationId xmlns:a16="http://schemas.microsoft.com/office/drawing/2014/main" id="{476FE0CA-C225-B75B-41A1-ED1FA2C74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2896231" y="30091800"/>
            <a:ext cx="1836000" cy="183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1F945769-1AF2-FF8B-BC03-CCC30F576816}"/>
              </a:ext>
            </a:extLst>
          </p:cNvPr>
          <p:cNvSpPr/>
          <p:nvPr/>
        </p:nvSpPr>
        <p:spPr>
          <a:xfrm>
            <a:off x="14249400" y="32918400"/>
            <a:ext cx="18362859" cy="1268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93713" indent="-493713">
              <a:lnSpc>
                <a:spcPts val="4720"/>
              </a:lnSpc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MU Sans Serif Medium" panose="02000603000000000000" pitchFamily="2" charset="0"/>
                <a:cs typeface="Arial" panose="020B0604020202020204" pitchFamily="34" charset="0"/>
              </a:rPr>
              <a:t>Based on the in-depth mixed-method review (see Methods, step 3). For definitions of the concepts, scan the QR code for access to the full paper.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CF1C6B-5961-5A62-5929-7CDFA3CF59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82600" y="6400800"/>
            <a:ext cx="15335250" cy="12268200"/>
          </a:xfrm>
          <a:prstGeom prst="rect">
            <a:avLst/>
          </a:prstGeom>
        </p:spPr>
      </p:pic>
      <p:pic>
        <p:nvPicPr>
          <p:cNvPr id="50" name="Graphic 49" descr="City outline">
            <a:extLst>
              <a:ext uri="{FF2B5EF4-FFF2-40B4-BE49-F238E27FC236}">
                <a16:creationId xmlns:a16="http://schemas.microsoft.com/office/drawing/2014/main" id="{F4F9E68D-6FEF-DD43-DA96-2B2BEDF24E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8203" y="11201400"/>
            <a:ext cx="1219200" cy="12192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70046CD-CC65-F48D-1FFE-34B5728F7842}"/>
              </a:ext>
            </a:extLst>
          </p:cNvPr>
          <p:cNvGrpSpPr/>
          <p:nvPr/>
        </p:nvGrpSpPr>
        <p:grpSpPr>
          <a:xfrm>
            <a:off x="864561" y="11113975"/>
            <a:ext cx="8889039" cy="11441225"/>
            <a:chOff x="712376" y="17073943"/>
            <a:chExt cx="8919365" cy="1215269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2080D9E-55BA-CCD5-C3D5-041896D3D53E}"/>
                </a:ext>
              </a:extLst>
            </p:cNvPr>
            <p:cNvGrpSpPr/>
            <p:nvPr/>
          </p:nvGrpSpPr>
          <p:grpSpPr>
            <a:xfrm>
              <a:off x="712376" y="17073943"/>
              <a:ext cx="8919365" cy="12152694"/>
              <a:chOff x="1602173" y="589963"/>
              <a:chExt cx="3260781" cy="4095722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AD9B751C-A7AA-4D2A-0FF7-76BD28AC8BF5}"/>
                  </a:ext>
                </a:extLst>
              </p:cNvPr>
              <p:cNvGrpSpPr/>
              <p:nvPr/>
            </p:nvGrpSpPr>
            <p:grpSpPr>
              <a:xfrm>
                <a:off x="1604511" y="589963"/>
                <a:ext cx="3258443" cy="4095722"/>
                <a:chOff x="5352357" y="2552156"/>
                <a:chExt cx="3633188" cy="4095722"/>
              </a:xfrm>
            </p:grpSpPr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FCD2E998-FF9A-4EFF-8DED-2F6CE60CE8B1}"/>
                    </a:ext>
                  </a:extLst>
                </p:cNvPr>
                <p:cNvSpPr/>
                <p:nvPr/>
              </p:nvSpPr>
              <p:spPr>
                <a:xfrm>
                  <a:off x="5911134" y="2552156"/>
                  <a:ext cx="2962683" cy="1145677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marL="493713" indent="-493713">
                    <a:lnSpc>
                      <a:spcPts val="4720"/>
                    </a:lnSpc>
                  </a:pP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1) Develop a global typology of cities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&gt;11k cities in the Global Human Settlement Layer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Deep Embedded Clustering to group cities based on shared characteristics</a:t>
                  </a:r>
                </a:p>
                <a:p>
                  <a:pPr marL="493713" indent="-493713">
                    <a:buFont typeface="Arial" panose="020B0604020202020204" pitchFamily="34" charset="0"/>
                    <a:buChar char="•"/>
                  </a:pPr>
                  <a:endParaRPr lang="en-GB" sz="3000" dirty="0">
                    <a:solidFill>
                      <a:schemeClr val="tx1"/>
                    </a:solidFill>
                    <a:latin typeface="CMU Sans Serif Medium" panose="02000603000000000000" pitchFamily="2" charset="0"/>
                    <a:ea typeface="CMU Sans Serif Medium" panose="02000603000000000000" pitchFamily="2" charset="0"/>
                    <a:cs typeface="CMU Sans Serif Medium" panose="02000603000000000000" pitchFamily="2" charset="0"/>
                  </a:endParaRP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F5D13CE9-C3ED-924A-2881-9021638753CC}"/>
                    </a:ext>
                  </a:extLst>
                </p:cNvPr>
                <p:cNvSpPr/>
                <p:nvPr/>
              </p:nvSpPr>
              <p:spPr>
                <a:xfrm>
                  <a:off x="5911134" y="3781515"/>
                  <a:ext cx="3074411" cy="138933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marL="493713" indent="-493713">
                    <a:lnSpc>
                      <a:spcPts val="4720"/>
                    </a:lnSpc>
                  </a:pP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2) Construct a scientific evidence database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Using keywords, download 230k articles on climate change and cities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Use topic modelling to classify topics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Identify &gt;50k case studies using using keyword-match-augmented geoparsing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endParaRPr lang="en-GB" sz="3000" dirty="0">
                    <a:solidFill>
                      <a:schemeClr val="tx1"/>
                    </a:solidFill>
                    <a:latin typeface="CMU Sans Serif Medium" panose="02000603000000000000" pitchFamily="2" charset="0"/>
                    <a:ea typeface="CMU Sans Serif Medium" panose="02000603000000000000" pitchFamily="2" charset="0"/>
                    <a:cs typeface="CMU Sans Serif Medium" panose="02000603000000000000" pitchFamily="2" charset="0"/>
                  </a:endParaRPr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C90CDF0D-1030-7AD2-0F68-9220EDD87D84}"/>
                    </a:ext>
                  </a:extLst>
                </p:cNvPr>
                <p:cNvSpPr/>
                <p:nvPr/>
              </p:nvSpPr>
              <p:spPr>
                <a:xfrm>
                  <a:off x="5912961" y="5252683"/>
                  <a:ext cx="2960856" cy="139519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marL="493713" indent="-493713">
                    <a:lnSpc>
                      <a:spcPts val="4720"/>
                    </a:lnSpc>
                  </a:pP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3) </a:t>
                  </a:r>
                  <a:r>
                    <a:rPr lang="en-GB" sz="3000" b="1" dirty="0" err="1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Analyze</a:t>
                  </a:r>
                  <a:r>
                    <a:rPr lang="en-GB" sz="3000" b="1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 the learning potential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Map the characteristics of 4 types of cities to identify common challenges</a:t>
                  </a:r>
                </a:p>
                <a:p>
                  <a:pPr marL="493713" indent="-493713">
                    <a:lnSpc>
                      <a:spcPts val="4720"/>
                    </a:lnSpc>
                    <a:buFont typeface="Arial" panose="020B0604020202020204" pitchFamily="34" charset="0"/>
                    <a:buChar char="•"/>
                  </a:pPr>
                  <a:r>
                    <a:rPr lang="en-GB" sz="3000" dirty="0">
                      <a:solidFill>
                        <a:schemeClr val="tx1"/>
                      </a:solidFill>
                      <a:latin typeface="CMU Sans Serif Medium" panose="02000603000000000000" pitchFamily="2" charset="0"/>
                      <a:ea typeface="CMU Sans Serif Medium" panose="02000603000000000000" pitchFamily="2" charset="0"/>
                      <a:cs typeface="CMU Sans Serif Medium" panose="02000603000000000000" pitchFamily="2" charset="0"/>
                    </a:rPr>
                    <a:t>Based on research topics documenting climate solutions, map these across the different types of cities to understand the learning potential</a:t>
                  </a:r>
                </a:p>
              </p:txBody>
            </p:sp>
            <p:grpSp>
              <p:nvGrpSpPr>
                <p:cNvPr id="36" name="Group 35">
                  <a:extLst>
                    <a:ext uri="{FF2B5EF4-FFF2-40B4-BE49-F238E27FC236}">
                      <a16:creationId xmlns:a16="http://schemas.microsoft.com/office/drawing/2014/main" id="{84D7FD54-575B-3B42-0659-2ADABDD07CCA}"/>
                    </a:ext>
                  </a:extLst>
                </p:cNvPr>
                <p:cNvGrpSpPr/>
                <p:nvPr/>
              </p:nvGrpSpPr>
              <p:grpSpPr>
                <a:xfrm>
                  <a:off x="5352357" y="3097720"/>
                  <a:ext cx="461886" cy="2538027"/>
                  <a:chOff x="5352357" y="3097720"/>
                  <a:chExt cx="461886" cy="2538027"/>
                </a:xfrm>
              </p:grpSpPr>
              <p:pic>
                <p:nvPicPr>
                  <p:cNvPr id="41" name="Graphic 40" descr="Presentation with bar chart outline">
                    <a:extLst>
                      <a:ext uri="{FF2B5EF4-FFF2-40B4-BE49-F238E27FC236}">
                        <a16:creationId xmlns:a16="http://schemas.microsoft.com/office/drawing/2014/main" id="{C680B882-2DEE-AB0A-4ECA-BE4EC3867F4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52357" y="5173860"/>
                    <a:ext cx="461886" cy="461887"/>
                  </a:xfrm>
                  <a:prstGeom prst="rect">
                    <a:avLst/>
                  </a:prstGeom>
                </p:spPr>
              </p:pic>
              <p:cxnSp>
                <p:nvCxnSpPr>
                  <p:cNvPr id="43" name="Straight Arrow Connector 42">
                    <a:extLst>
                      <a:ext uri="{FF2B5EF4-FFF2-40B4-BE49-F238E27FC236}">
                        <a16:creationId xmlns:a16="http://schemas.microsoft.com/office/drawing/2014/main" id="{DE6A05B9-3761-6AA5-5379-E54F369B3C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603857" y="3097720"/>
                    <a:ext cx="0" cy="570369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</p:grpSp>
          <p:pic>
            <p:nvPicPr>
              <p:cNvPr id="20" name="Graphic 19" descr="Laptop outline">
                <a:extLst>
                  <a:ext uri="{FF2B5EF4-FFF2-40B4-BE49-F238E27FC236}">
                    <a16:creationId xmlns:a16="http://schemas.microsoft.com/office/drawing/2014/main" id="{C7C7E115-209E-8641-6E0F-8DCF01EE8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602173" y="1760497"/>
                <a:ext cx="454003" cy="454003"/>
              </a:xfrm>
              <a:prstGeom prst="rect">
                <a:avLst/>
              </a:prstGeom>
            </p:spPr>
          </p:pic>
        </p:grp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A16A955-6280-81ED-2815-48A415A27F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08" y="22203399"/>
              <a:ext cx="17214" cy="20161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pic>
        <p:nvPicPr>
          <p:cNvPr id="53" name="Picture 52">
            <a:extLst>
              <a:ext uri="{FF2B5EF4-FFF2-40B4-BE49-F238E27FC236}">
                <a16:creationId xmlns:a16="http://schemas.microsoft.com/office/drawing/2014/main" id="{7500130D-85B9-E0B7-12BE-0CCD9BE7473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185600" y="30403800"/>
            <a:ext cx="3810000" cy="213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DE98B0-C418-9135-BC2D-B97D2C2B7DCE}"/>
              </a:ext>
            </a:extLst>
          </p:cNvPr>
          <p:cNvSpPr txBox="1"/>
          <p:nvPr/>
        </p:nvSpPr>
        <p:spPr>
          <a:xfrm>
            <a:off x="10972800" y="20345401"/>
            <a:ext cx="19888200" cy="119160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12A0BF-C691-09B0-5B6C-DE081B563210}"/>
              </a:ext>
            </a:extLst>
          </p:cNvPr>
          <p:cNvSpPr txBox="1"/>
          <p:nvPr/>
        </p:nvSpPr>
        <p:spPr>
          <a:xfrm>
            <a:off x="32766000" y="762000"/>
            <a:ext cx="10668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r>
              <a:rPr lang="en-US" sz="4800" dirty="0">
                <a:solidFill>
                  <a:srgbClr val="1C3F5E"/>
                </a:solidFill>
                <a:latin typeface="CMU Sans Serif Medium" panose="02000603000000000000" pitchFamily="2" charset="0"/>
              </a:rPr>
              <a:t>Cities belong to one main type, but share challenges with other types: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0B1F59-DECB-2BDF-87B7-8A3AB59F7B8E}"/>
              </a:ext>
            </a:extLst>
          </p:cNvPr>
          <p:cNvSpPr txBox="1"/>
          <p:nvPr/>
        </p:nvSpPr>
        <p:spPr>
          <a:xfrm>
            <a:off x="707138" y="8305800"/>
            <a:ext cx="8970261" cy="14651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pPr marL="57150" indent="-25400">
              <a:lnSpc>
                <a:spcPts val="5500"/>
              </a:lnSpc>
            </a:pPr>
            <a:r>
              <a:rPr lang="en-GB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  <a:sym typeface="Wingdings" pitchFamily="2" charset="2"/>
              </a:rPr>
              <a:t>What is the evidence-based transfer learning potential from climate solutions in cities?</a:t>
            </a:r>
            <a:endParaRPr lang="en-US" sz="3600" dirty="0"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AEB64F8-F6E3-2303-50D6-A3349B5B13D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1" y="26898600"/>
            <a:ext cx="8763000" cy="52920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8AF686-1605-7697-D09F-3D43655E696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106400" y="20802600"/>
            <a:ext cx="15316200" cy="9189720"/>
          </a:xfrm>
          <a:prstGeom prst="rect">
            <a:avLst/>
          </a:prstGeom>
        </p:spPr>
      </p:pic>
      <p:sp>
        <p:nvSpPr>
          <p:cNvPr id="66" name="Title 11">
            <a:extLst>
              <a:ext uri="{FF2B5EF4-FFF2-40B4-BE49-F238E27FC236}">
                <a16:creationId xmlns:a16="http://schemas.microsoft.com/office/drawing/2014/main" id="{E117A121-DFAB-6FCD-F863-35D8B323F540}"/>
              </a:ext>
            </a:extLst>
          </p:cNvPr>
          <p:cNvSpPr txBox="1"/>
          <p:nvPr/>
        </p:nvSpPr>
        <p:spPr>
          <a:xfrm>
            <a:off x="10896600" y="19126200"/>
            <a:ext cx="20405949" cy="2057400"/>
          </a:xfrm>
          <a:prstGeom prst="rect">
            <a:avLst/>
          </a:prstGeom>
        </p:spPr>
        <p:txBody>
          <a:bodyPr lIns="128016" tIns="64008" rIns="128016" bIns="64008"/>
          <a:lstStyle>
            <a:defPPr>
              <a:defRPr kern="1200" smtId="4294967295"/>
            </a:defPPr>
            <a:lvl1pPr algn="ctr" defTabSz="4389028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60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Vast evidence-based learning potential</a:t>
            </a:r>
            <a:br>
              <a:rPr lang="en-US" sz="60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</a:br>
            <a:endParaRPr lang="en-US" sz="6000" dirty="0">
              <a:solidFill>
                <a:schemeClr val="bg1"/>
              </a:solidFill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45829EC9-B308-1C81-7458-B8C7F3E4BB4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842200" y="5067300"/>
            <a:ext cx="10439400" cy="5219700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B21A254-A361-13F1-739C-E483C050B686}"/>
              </a:ext>
            </a:extLst>
          </p:cNvPr>
          <p:cNvSpPr txBox="1"/>
          <p:nvPr/>
        </p:nvSpPr>
        <p:spPr>
          <a:xfrm>
            <a:off x="32842200" y="2438400"/>
            <a:ext cx="10591800" cy="2875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pPr marL="366713" indent="-366713">
              <a:lnSpc>
                <a:spcPts val="55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Mega cities share challenges with all other types (a)</a:t>
            </a:r>
          </a:p>
          <a:p>
            <a:pPr marL="366713" indent="-366713">
              <a:lnSpc>
                <a:spcPts val="55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Cities in the global south share urban planning and development challenges (in b)</a:t>
            </a:r>
          </a:p>
          <a:p>
            <a:pPr marL="366713" indent="-366713">
              <a:lnSpc>
                <a:spcPts val="5500"/>
              </a:lnSpc>
              <a:buFont typeface="Arial" panose="020B0604020202020204" pitchFamily="34" charset="0"/>
              <a:buChar char="•"/>
            </a:pPr>
            <a:endParaRPr lang="en-US" sz="3600" dirty="0"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80693F9-0051-71E1-9BD5-5DF491D2317E}"/>
              </a:ext>
            </a:extLst>
          </p:cNvPr>
          <p:cNvSpPr txBox="1"/>
          <p:nvPr/>
        </p:nvSpPr>
        <p:spPr>
          <a:xfrm>
            <a:off x="11125200" y="9906000"/>
            <a:ext cx="2057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b="1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Mean-normalised city </a:t>
            </a:r>
            <a:r>
              <a:rPr lang="en-GB" sz="18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characteristic</a:t>
            </a:r>
            <a:endParaRPr lang="en-CH" sz="18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CBF95FD1-2DB8-9CB2-1479-B3E006F1F36B}"/>
              </a:ext>
            </a:extLst>
          </p:cNvPr>
          <p:cNvCxnSpPr>
            <a:cxnSpLocks/>
          </p:cNvCxnSpPr>
          <p:nvPr/>
        </p:nvCxnSpPr>
        <p:spPr bwMode="auto">
          <a:xfrm>
            <a:off x="12725400" y="10668000"/>
            <a:ext cx="457200" cy="22860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5D0C3351-00D7-B561-5D25-F728AAB2ADB0}"/>
              </a:ext>
            </a:extLst>
          </p:cNvPr>
          <p:cNvSpPr txBox="1"/>
          <p:nvPr/>
        </p:nvSpPr>
        <p:spPr>
          <a:xfrm>
            <a:off x="11201400" y="15925800"/>
            <a:ext cx="2057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Cities with the </a:t>
            </a:r>
            <a:r>
              <a:rPr lang="en-GB" sz="1800" b="1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highest</a:t>
            </a:r>
            <a:r>
              <a:rPr lang="en-GB" sz="18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cluster assignment </a:t>
            </a:r>
            <a:r>
              <a:rPr lang="en-GB" sz="1800" b="1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probabilities</a:t>
            </a:r>
            <a:endParaRPr lang="en-CH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2C56B1C-7348-39EE-D92E-2DE4E5CABFD5}"/>
              </a:ext>
            </a:extLst>
          </p:cNvPr>
          <p:cNvCxnSpPr>
            <a:cxnSpLocks/>
          </p:cNvCxnSpPr>
          <p:nvPr/>
        </p:nvCxnSpPr>
        <p:spPr bwMode="auto">
          <a:xfrm flipV="1">
            <a:off x="13182600" y="14554200"/>
            <a:ext cx="1752600" cy="129540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E7028A35-D726-724A-24CD-AE4918C7B7A0}"/>
              </a:ext>
            </a:extLst>
          </p:cNvPr>
          <p:cNvSpPr txBox="1"/>
          <p:nvPr/>
        </p:nvSpPr>
        <p:spPr>
          <a:xfrm>
            <a:off x="28727400" y="9567208"/>
            <a:ext cx="2057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b="1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Light colours </a:t>
            </a:r>
            <a:r>
              <a:rPr lang="en-GB" sz="18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indicate </a:t>
            </a:r>
            <a:r>
              <a:rPr lang="en-GB" sz="1800" b="1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lower</a:t>
            </a:r>
            <a:r>
              <a:rPr lang="en-GB" sz="18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cluster assignment </a:t>
            </a:r>
            <a:r>
              <a:rPr lang="en-GB" sz="1800" b="1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probabilities</a:t>
            </a:r>
            <a:endParaRPr lang="en-CH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5D87191-0458-8744-F8C2-9F58481F0599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5527000" y="8305800"/>
            <a:ext cx="3124200" cy="129540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E5104246-311E-829F-5887-5E52F4C5C5AB}"/>
              </a:ext>
            </a:extLst>
          </p:cNvPr>
          <p:cNvSpPr txBox="1"/>
          <p:nvPr/>
        </p:nvSpPr>
        <p:spPr>
          <a:xfrm>
            <a:off x="28498800" y="16992600"/>
            <a:ext cx="2057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Red dots show the </a:t>
            </a:r>
            <a:r>
              <a:rPr lang="en-GB" sz="1800" b="1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deviation relative to the mean</a:t>
            </a:r>
            <a:endParaRPr lang="en-CH" sz="18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19C4E649-33F1-B7F8-6682-01EF9CED62A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8346400" y="16611600"/>
            <a:ext cx="228600" cy="38100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BF0808A3-89B1-0F93-0D86-101DE27232FA}"/>
              </a:ext>
            </a:extLst>
          </p:cNvPr>
          <p:cNvSpPr txBox="1"/>
          <p:nvPr/>
        </p:nvSpPr>
        <p:spPr>
          <a:xfrm>
            <a:off x="11201400" y="11353800"/>
            <a:ext cx="2057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b="1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</a:t>
            </a:r>
            <a:r>
              <a:rPr lang="en-GB" sz="18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limate action drivers</a:t>
            </a:r>
            <a:endParaRPr lang="en-CH" sz="1800" dirty="0">
              <a:solidFill>
                <a:schemeClr val="bg1">
                  <a:lumMod val="50000"/>
                </a:schemeClr>
              </a:solidFill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4D147635-B294-50C8-1F1E-447E91D79DD3}"/>
              </a:ext>
            </a:extLst>
          </p:cNvPr>
          <p:cNvCxnSpPr>
            <a:cxnSpLocks/>
          </p:cNvCxnSpPr>
          <p:nvPr/>
        </p:nvCxnSpPr>
        <p:spPr bwMode="auto">
          <a:xfrm>
            <a:off x="12801600" y="11734800"/>
            <a:ext cx="609600" cy="15240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3B67A3F5-AE1A-81D5-6293-4F8AEEEBE7EE}"/>
              </a:ext>
            </a:extLst>
          </p:cNvPr>
          <p:cNvSpPr txBox="1"/>
          <p:nvPr/>
        </p:nvSpPr>
        <p:spPr>
          <a:xfrm>
            <a:off x="32766000" y="11125200"/>
            <a:ext cx="10668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 smtId="4294967295"/>
            </a:defPPr>
          </a:lstStyle>
          <a:p>
            <a:r>
              <a:rPr lang="en-US" sz="4800" dirty="0">
                <a:solidFill>
                  <a:srgbClr val="1C3F5E"/>
                </a:solidFill>
                <a:latin typeface="CMU Sans Serif Medium" panose="02000603000000000000" pitchFamily="2" charset="0"/>
              </a:rPr>
              <a:t>Selected scalable climate solutions:</a:t>
            </a:r>
          </a:p>
        </p:txBody>
      </p:sp>
      <p:pic>
        <p:nvPicPr>
          <p:cNvPr id="131" name="Picture 130">
            <a:extLst>
              <a:ext uri="{FF2B5EF4-FFF2-40B4-BE49-F238E27FC236}">
                <a16:creationId xmlns:a16="http://schemas.microsoft.com/office/drawing/2014/main" id="{685D87C5-6394-6CA3-8370-84C71B938355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32842200" y="12039600"/>
            <a:ext cx="10532534" cy="7899400"/>
          </a:xfrm>
          <a:prstGeom prst="rect">
            <a:avLst/>
          </a:prstGeom>
        </p:spPr>
      </p:pic>
      <p:sp>
        <p:nvSpPr>
          <p:cNvPr id="132" name="TextBox 131">
            <a:extLst>
              <a:ext uri="{FF2B5EF4-FFF2-40B4-BE49-F238E27FC236}">
                <a16:creationId xmlns:a16="http://schemas.microsoft.com/office/drawing/2014/main" id="{4D8DA102-A88C-D58F-E63B-5F47D3D41338}"/>
              </a:ext>
            </a:extLst>
          </p:cNvPr>
          <p:cNvSpPr txBox="1"/>
          <p:nvPr/>
        </p:nvSpPr>
        <p:spPr>
          <a:xfrm>
            <a:off x="11430000" y="21336000"/>
            <a:ext cx="2057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R</a:t>
            </a:r>
            <a:r>
              <a:rPr lang="en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esearch is biased towards the Global North</a:t>
            </a:r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953D0B51-3262-28EC-96CA-A86B2F07F14D}"/>
              </a:ext>
            </a:extLst>
          </p:cNvPr>
          <p:cNvCxnSpPr>
            <a:cxnSpLocks/>
          </p:cNvCxnSpPr>
          <p:nvPr/>
        </p:nvCxnSpPr>
        <p:spPr bwMode="auto">
          <a:xfrm>
            <a:off x="13258800" y="22250400"/>
            <a:ext cx="2209800" cy="22860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01E2A8EE-AE7F-23DF-C4BE-E46A024F2D5D}"/>
              </a:ext>
            </a:extLst>
          </p:cNvPr>
          <p:cNvSpPr txBox="1"/>
          <p:nvPr/>
        </p:nvSpPr>
        <p:spPr>
          <a:xfrm>
            <a:off x="11353800" y="28041600"/>
            <a:ext cx="2057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Under-</a:t>
            </a:r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researched</a:t>
            </a:r>
            <a:r>
              <a:rPr lang="de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cities</a:t>
            </a:r>
            <a:r>
              <a:rPr lang="de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are</a:t>
            </a:r>
            <a:r>
              <a:rPr lang="de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more</a:t>
            </a:r>
            <a:r>
              <a:rPr lang="de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numerous</a:t>
            </a:r>
            <a:r>
              <a:rPr lang="de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and </a:t>
            </a:r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thus</a:t>
            </a:r>
            <a:r>
              <a:rPr lang="de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similar</a:t>
            </a:r>
            <a:r>
              <a:rPr lang="de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to</a:t>
            </a:r>
            <a:r>
              <a:rPr lang="de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all </a:t>
            </a:r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other</a:t>
            </a:r>
            <a:r>
              <a:rPr lang="de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cities</a:t>
            </a:r>
            <a:endParaRPr lang="en-CH" dirty="0">
              <a:solidFill>
                <a:schemeClr val="bg2">
                  <a:lumMod val="25000"/>
                </a:schemeClr>
              </a:solidFill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0818D733-5391-4161-908C-D92C20D09F20}"/>
              </a:ext>
            </a:extLst>
          </p:cNvPr>
          <p:cNvCxnSpPr>
            <a:cxnSpLocks/>
          </p:cNvCxnSpPr>
          <p:nvPr/>
        </p:nvCxnSpPr>
        <p:spPr bwMode="auto">
          <a:xfrm flipV="1">
            <a:off x="13563600" y="28727400"/>
            <a:ext cx="1371600" cy="22860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B956193-2988-284F-D5D8-C924E69D3D91}"/>
              </a:ext>
            </a:extLst>
          </p:cNvPr>
          <p:cNvSpPr txBox="1"/>
          <p:nvPr/>
        </p:nvSpPr>
        <p:spPr>
          <a:xfrm>
            <a:off x="13792200" y="30556200"/>
            <a:ext cx="3962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T</a:t>
            </a:r>
            <a:r>
              <a:rPr lang="en-CH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he brighter the colour, the more similar are the cities on average in that hexagon to all other cities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E3A52609-D91B-F6F1-6159-A2B76E9E4057}"/>
              </a:ext>
            </a:extLst>
          </p:cNvPr>
          <p:cNvCxnSpPr>
            <a:cxnSpLocks/>
          </p:cNvCxnSpPr>
          <p:nvPr/>
        </p:nvCxnSpPr>
        <p:spPr bwMode="auto">
          <a:xfrm flipV="1">
            <a:off x="15925800" y="28651200"/>
            <a:ext cx="914400" cy="175260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3FE7577B-9A5C-A531-72B9-9F5BEB7FA594}"/>
              </a:ext>
            </a:extLst>
          </p:cNvPr>
          <p:cNvSpPr txBox="1"/>
          <p:nvPr/>
        </p:nvSpPr>
        <p:spPr>
          <a:xfrm>
            <a:off x="19431000" y="30632400"/>
            <a:ext cx="853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Many cities are still not covered by any research across the globe – not just an academic research </a:t>
            </a:r>
            <a:r>
              <a:rPr lang="en-GB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gap,</a:t>
            </a:r>
            <a:r>
              <a:rPr lang="en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but a critical lack of </a:t>
            </a:r>
            <a:r>
              <a:rPr lang="en-GB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knowledge that</a:t>
            </a:r>
            <a:r>
              <a:rPr lang="en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matters to guide urban climate action </a:t>
            </a: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995F2F48-BD47-F5C3-97A8-AD4742CEF02C}"/>
              </a:ext>
            </a:extLst>
          </p:cNvPr>
          <p:cNvCxnSpPr>
            <a:cxnSpLocks/>
          </p:cNvCxnSpPr>
          <p:nvPr/>
        </p:nvCxnSpPr>
        <p:spPr bwMode="auto">
          <a:xfrm flipV="1">
            <a:off x="21717000" y="28803600"/>
            <a:ext cx="0" cy="167640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A12B1D1D-0BA9-ABD7-0AF7-46C6A3C35069}"/>
              </a:ext>
            </a:extLst>
          </p:cNvPr>
          <p:cNvSpPr txBox="1"/>
          <p:nvPr/>
        </p:nvSpPr>
        <p:spPr>
          <a:xfrm>
            <a:off x="28803600" y="20650200"/>
            <a:ext cx="20574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R</a:t>
            </a:r>
            <a:r>
              <a:rPr lang="en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esearch is biased towards cities with mitigation challenges and mega/large cities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60D19CE1-7435-1E0C-6D0D-BB24E63B7A29}"/>
              </a:ext>
            </a:extLst>
          </p:cNvPr>
          <p:cNvCxnSpPr>
            <a:cxnSpLocks/>
          </p:cNvCxnSpPr>
          <p:nvPr/>
        </p:nvCxnSpPr>
        <p:spPr bwMode="auto">
          <a:xfrm flipH="1">
            <a:off x="28422600" y="22250400"/>
            <a:ext cx="30480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F4A440A8-FDCF-F749-32DF-5E15587006F9}"/>
              </a:ext>
            </a:extLst>
          </p:cNvPr>
          <p:cNvSpPr txBox="1"/>
          <p:nvPr/>
        </p:nvSpPr>
        <p:spPr>
          <a:xfrm>
            <a:off x="28803600" y="24079200"/>
            <a:ext cx="1905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Similarity</a:t>
            </a:r>
            <a:r>
              <a:rPr lang="de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[0-1] </a:t>
            </a:r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is</a:t>
            </a:r>
            <a:r>
              <a:rPr lang="de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higher</a:t>
            </a:r>
            <a:r>
              <a:rPr lang="de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for</a:t>
            </a:r>
            <a:r>
              <a:rPr lang="de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under-researched</a:t>
            </a:r>
            <a:r>
              <a:rPr lang="de-CH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cities</a:t>
            </a:r>
            <a:endParaRPr lang="en-CH" dirty="0">
              <a:solidFill>
                <a:schemeClr val="bg2">
                  <a:lumMod val="25000"/>
                </a:schemeClr>
              </a:solidFill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BD764E4-BC8F-59DF-091D-906D3CAE3965}"/>
              </a:ext>
            </a:extLst>
          </p:cNvPr>
          <p:cNvSpPr txBox="1"/>
          <p:nvPr/>
        </p:nvSpPr>
        <p:spPr>
          <a:xfrm>
            <a:off x="28879800" y="27279600"/>
            <a:ext cx="1905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Share </a:t>
            </a:r>
            <a:r>
              <a:rPr lang="de-CH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of</a:t>
            </a:r>
            <a:r>
              <a:rPr lang="de-CH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cities</a:t>
            </a:r>
            <a:r>
              <a:rPr lang="de-CH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not </a:t>
            </a:r>
            <a:r>
              <a:rPr lang="de-CH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covered</a:t>
            </a:r>
            <a:r>
              <a:rPr lang="de-CH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by</a:t>
            </a:r>
            <a:r>
              <a:rPr lang="de-CH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any</a:t>
            </a:r>
            <a:r>
              <a:rPr lang="de-CH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research</a:t>
            </a:r>
            <a:r>
              <a:rPr lang="de-CH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is</a:t>
            </a:r>
            <a:r>
              <a:rPr lang="de-CH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largest</a:t>
            </a:r>
            <a:r>
              <a:rPr lang="de-CH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for</a:t>
            </a:r>
            <a:r>
              <a:rPr lang="de-CH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cities</a:t>
            </a:r>
            <a:r>
              <a:rPr lang="de-CH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with</a:t>
            </a:r>
            <a:r>
              <a:rPr lang="de-CH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development</a:t>
            </a:r>
            <a:r>
              <a:rPr lang="de-CH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and urban </a:t>
            </a:r>
            <a:r>
              <a:rPr lang="de-CH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planning</a:t>
            </a:r>
            <a:r>
              <a:rPr lang="de-CH" dirty="0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 </a:t>
            </a:r>
            <a:r>
              <a:rPr lang="de-CH" dirty="0" err="1">
                <a:solidFill>
                  <a:schemeClr val="bg1">
                    <a:lumMod val="50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challenges</a:t>
            </a:r>
            <a:endParaRPr lang="en-CH" dirty="0">
              <a:solidFill>
                <a:schemeClr val="bg1">
                  <a:lumMod val="50000"/>
                </a:schemeClr>
              </a:solidFill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BA07D9DD-A371-06E1-04B5-E348FE497258}"/>
              </a:ext>
            </a:extLst>
          </p:cNvPr>
          <p:cNvCxnSpPr>
            <a:cxnSpLocks/>
          </p:cNvCxnSpPr>
          <p:nvPr/>
        </p:nvCxnSpPr>
        <p:spPr bwMode="auto">
          <a:xfrm flipH="1">
            <a:off x="28422600" y="25222200"/>
            <a:ext cx="30480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E90AAC9D-3E73-E156-1EBB-3EC0D3F614E3}"/>
              </a:ext>
            </a:extLst>
          </p:cNvPr>
          <p:cNvCxnSpPr>
            <a:cxnSpLocks/>
          </p:cNvCxnSpPr>
          <p:nvPr/>
        </p:nvCxnSpPr>
        <p:spPr bwMode="auto">
          <a:xfrm flipH="1">
            <a:off x="28498800" y="28498800"/>
            <a:ext cx="30480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8F5F24B1-F0B5-B2F8-EC42-84A20BD50430}"/>
              </a:ext>
            </a:extLst>
          </p:cNvPr>
          <p:cNvSpPr txBox="1"/>
          <p:nvPr/>
        </p:nvSpPr>
        <p:spPr>
          <a:xfrm>
            <a:off x="11201400" y="6477000"/>
            <a:ext cx="2362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Challenges: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Low GDP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Low critical infrastructure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High cooling needs </a:t>
            </a:r>
            <a:endParaRPr lang="en-CH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15FD098-244A-CE72-6B83-6CBA634685F9}"/>
              </a:ext>
            </a:extLst>
          </p:cNvPr>
          <p:cNvSpPr txBox="1"/>
          <p:nvPr/>
        </p:nvSpPr>
        <p:spPr>
          <a:xfrm>
            <a:off x="28422600" y="6553200"/>
            <a:ext cx="2362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Challenges: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High heating needs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High emissions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Urban sprawl</a:t>
            </a:r>
            <a:endParaRPr lang="en-CH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41B9EC4-26D7-D9BE-A3E9-7A4DA37D9610}"/>
              </a:ext>
            </a:extLst>
          </p:cNvPr>
          <p:cNvSpPr txBox="1"/>
          <p:nvPr/>
        </p:nvSpPr>
        <p:spPr>
          <a:xfrm>
            <a:off x="28422600" y="12725400"/>
            <a:ext cx="23622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Challenges: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Fast population growth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High-density urban form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High emissions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>
              <a:solidFill>
                <a:schemeClr val="bg2">
                  <a:lumMod val="25000"/>
                </a:schemeClr>
              </a:solidFill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35F274FC-49C2-E7EF-E4C1-BB0552A673B5}"/>
              </a:ext>
            </a:extLst>
          </p:cNvPr>
          <p:cNvSpPr txBox="1"/>
          <p:nvPr/>
        </p:nvSpPr>
        <p:spPr>
          <a:xfrm>
            <a:off x="11201400" y="12649200"/>
            <a:ext cx="23622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Challenges: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Low population density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Low greenness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2">
                    <a:lumMod val="2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Low critical infrastructure</a:t>
            </a: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16.09.30"/>
  <p:tag name="AS_TITLE" val="Aspose.Slides for .NET 4.0"/>
  <p:tag name="AS_VERSION" val="16.9.0.0"/>
  <p:tag name="MAKESIGNSTEMPLATE" val="persuadingsapphire|09-2018"/>
</p:tagLst>
</file>

<file path=ppt/theme/theme1.xml><?xml version="1.0" encoding="utf-8"?>
<a:theme xmlns:a="http://schemas.openxmlformats.org/drawingml/2006/main" name="Blank Presentation">
  <a:themeElements>
    <a:clrScheme name="Metro">
      <a:dk1>
        <a:sysClr val="windowText" lastClr="000000"/>
      </a:dk1>
      <a:lt1>
        <a:sysClr val="window" lastClr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EB80A"/>
      </a:accent3>
      <a:accent4>
        <a:srgbClr val="00ADDC"/>
      </a:accent4>
      <a:accent5>
        <a:srgbClr val="738AC8"/>
      </a:accent5>
      <a:accent6>
        <a:srgbClr val="1AB39F"/>
      </a:accent6>
      <a:hlink>
        <a:srgbClr val="EB8803"/>
      </a:hlink>
      <a:folHlink>
        <a:srgbClr val="5F7791"/>
      </a:folHlink>
    </a:clrScheme>
    <a:fontScheme name="Blank Presentation">
      <a:majorFont>
        <a:latin typeface="Times New Roman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Office\Templates\Blank Presentation.pot</Template>
  <TotalTime>7057</TotalTime>
  <Words>574</Words>
  <Application>Microsoft Macintosh PowerPoint</Application>
  <PresentationFormat>Custom</PresentationFormat>
  <Paragraphs>63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CMU SANS SERIF MEDIUM</vt:lpstr>
      <vt:lpstr>Wingdings</vt:lpstr>
      <vt:lpstr>CMU Sans Serif</vt:lpstr>
      <vt:lpstr>Arial</vt:lpstr>
      <vt:lpstr>Times New Roman</vt:lpstr>
      <vt:lpstr>Blank Presentation</vt:lpstr>
      <vt:lpstr>PowerPoint Presentation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to make a scientific poster</dc:title>
  <dc:subject>Free Poster Presentation Example</dc:subject>
  <dc:creator>Graphicsland/MakeSigns.com</dc:creator>
  <cp:keywords>scientific, research, template, custom, poster, presentation, symposium, printing, PowerPoint, create, design, example, sample, download</cp:keywords>
  <dc:description>This is a free template from MakeSigns.com to help you create the perfect scientific poster.</dc:description>
  <cp:lastModifiedBy>Simon Andres Montfort</cp:lastModifiedBy>
  <cp:revision>358</cp:revision>
  <cp:lastPrinted>2025-08-27T11:16:30Z</cp:lastPrinted>
  <dcterms:modified xsi:type="dcterms:W3CDTF">2025-08-27T18:57:23Z</dcterms:modified>
  <cp:category>templates for scientific poster</cp:category>
</cp:coreProperties>
</file>