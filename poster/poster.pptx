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63" r:id="rId2"/>
  </p:sldIdLst>
  <p:sldSz cx="43891200" cy="32918400"/>
  <p:notesSz cx="31954788" cy="50149125"/>
  <p:embeddedFontLst>
    <p:embeddedFont>
      <p:font typeface="CMU Sans Serif" panose="02000603000000000000" pitchFamily="2" charset="0"/>
      <p:regular r:id="rId5"/>
      <p:bold r:id="rId6"/>
      <p:italic r:id="rId7"/>
      <p:boldItalic r:id="rId8"/>
    </p:embeddedFont>
    <p:embeddedFont>
      <p:font typeface="CMU SANS SERIF MEDIUM" panose="02000603000000000000" pitchFamily="2" charset="0"/>
      <p:regular r:id="rId9"/>
    </p:embeddedFont>
  </p:embeddedFontLst>
  <p:custDataLst>
    <p:tags r:id="rId10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112" userDrawn="1">
          <p15:clr>
            <a:srgbClr val="A4A3A4"/>
          </p15:clr>
        </p15:guide>
        <p15:guide id="2" orient="horz" pos="528" userDrawn="1">
          <p15:clr>
            <a:srgbClr val="A4A3A4"/>
          </p15:clr>
        </p15:guide>
        <p15:guide id="3" orient="horz" pos="3533">
          <p15:clr>
            <a:srgbClr val="A4A3A4"/>
          </p15:clr>
        </p15:guide>
        <p15:guide id="4" orient="horz" pos="6246">
          <p15:clr>
            <a:srgbClr val="A4A3A4"/>
          </p15:clr>
        </p15:guide>
        <p15:guide id="5" pos="432" userDrawn="1">
          <p15:clr>
            <a:srgbClr val="A4A3A4"/>
          </p15:clr>
        </p15:guide>
        <p15:guide id="6" pos="6960" userDrawn="1">
          <p15:clr>
            <a:srgbClr val="A4A3A4"/>
          </p15:clr>
        </p15:guide>
        <p15:guide id="7" pos="6288" userDrawn="1">
          <p15:clr>
            <a:srgbClr val="A4A3A4"/>
          </p15:clr>
        </p15:guide>
        <p15:guide id="8" pos="13584">
          <p15:clr>
            <a:srgbClr val="A4A3A4"/>
          </p15:clr>
        </p15:guide>
        <p15:guide id="9" pos="14064">
          <p15:clr>
            <a:srgbClr val="A4A3A4"/>
          </p15:clr>
        </p15:guide>
        <p15:guide id="10" pos="20016" userDrawn="1">
          <p15:clr>
            <a:srgbClr val="A4A3A4"/>
          </p15:clr>
        </p15:guide>
        <p15:guide id="11" pos="20688" userDrawn="1">
          <p15:clr>
            <a:srgbClr val="A4A3A4"/>
          </p15:clr>
        </p15:guide>
        <p15:guide id="12" pos="2721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795">
          <p15:clr>
            <a:srgbClr val="A4A3A4"/>
          </p15:clr>
        </p15:guide>
        <p15:guide id="2" pos="10065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3F5E"/>
    <a:srgbClr val="353941"/>
    <a:srgbClr val="2D3C50"/>
    <a:srgbClr val="A167B2"/>
    <a:srgbClr val="E64B3C"/>
    <a:srgbClr val="3F616D"/>
    <a:srgbClr val="047086"/>
    <a:srgbClr val="465772"/>
    <a:srgbClr val="EEEEEE"/>
    <a:srgbClr val="0596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85" autoAdjust="0"/>
    <p:restoredTop sz="95615" autoAdjust="0"/>
  </p:normalViewPr>
  <p:slideViewPr>
    <p:cSldViewPr>
      <p:cViewPr>
        <p:scale>
          <a:sx n="89" d="100"/>
          <a:sy n="89" d="100"/>
        </p:scale>
        <p:origin x="-9832" y="-13800"/>
      </p:cViewPr>
      <p:guideLst>
        <p:guide orient="horz" pos="20112"/>
        <p:guide orient="horz" pos="528"/>
        <p:guide orient="horz" pos="3533"/>
        <p:guide orient="horz" pos="6246"/>
        <p:guide pos="432"/>
        <p:guide pos="6960"/>
        <p:guide pos="6288"/>
        <p:guide pos="13584"/>
        <p:guide pos="14064"/>
        <p:guide pos="20016"/>
        <p:guide pos="20688"/>
        <p:guide pos="272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 varScale="1">
        <p:scale>
          <a:sx n="17" d="100"/>
          <a:sy n="17" d="100"/>
        </p:scale>
        <p:origin x="4416" y="178"/>
      </p:cViewPr>
      <p:guideLst>
        <p:guide orient="horz" pos="15795"/>
        <p:guide pos="10065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3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0" Type="http://schemas.openxmlformats.org/officeDocument/2006/relationships/tags" Target="tags/tag1.xml"/><Relationship Id="rId4" Type="http://schemas.openxmlformats.org/officeDocument/2006/relationships/handoutMaster" Target="handoutMasters/handoutMaster1.xml"/><Relationship Id="rId9" Type="http://schemas.openxmlformats.org/officeDocument/2006/relationships/font" Target="fonts/font5.fntdata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138049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17941925" y="0"/>
            <a:ext cx="141351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47639288"/>
            <a:ext cx="138049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b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17941925" y="47639288"/>
            <a:ext cx="141351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b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4508500">
              <a:defRPr sz="6000"/>
            </a:lvl1pPr>
          </a:lstStyle>
          <a:p>
            <a:pPr>
              <a:defRPr/>
            </a:pPr>
            <a:fld id="{440C443C-8022-4F5D-8F2E-5133654FC91D}" type="slidenum">
              <a:rPr lang="en-AU"/>
              <a:pPr>
                <a:defRPr/>
              </a:pPr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97928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138049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17941925" y="0"/>
            <a:ext cx="141351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378200" y="3757613"/>
            <a:ext cx="24996775" cy="187483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137025" y="24004588"/>
            <a:ext cx="23456900" cy="2251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</a:lstStyle>
          <a:p>
            <a:pPr lvl="0"/>
            <a:r>
              <a:rPr lang="en-AU" noProof="0"/>
              <a:t>Click to edit Master text styles</a:t>
            </a:r>
          </a:p>
          <a:p>
            <a:pPr lvl="1"/>
            <a:r>
              <a:rPr lang="en-AU" noProof="0"/>
              <a:t>Second level</a:t>
            </a:r>
          </a:p>
          <a:p>
            <a:pPr lvl="2"/>
            <a:r>
              <a:rPr lang="en-AU" noProof="0"/>
              <a:t>Third level</a:t>
            </a:r>
          </a:p>
          <a:p>
            <a:pPr lvl="3"/>
            <a:r>
              <a:rPr lang="en-AU" noProof="0"/>
              <a:t>Fourth level</a:t>
            </a:r>
          </a:p>
          <a:p>
            <a:pPr lvl="4"/>
            <a:r>
              <a:rPr lang="en-AU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47639288"/>
            <a:ext cx="138049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b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17941925" y="47639288"/>
            <a:ext cx="141351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b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4508500">
              <a:defRPr sz="6000"/>
            </a:lvl1pPr>
          </a:lstStyle>
          <a:p>
            <a:pPr>
              <a:defRPr/>
            </a:pPr>
            <a:fld id="{42207482-9F38-4AF6-9B91-768DCEDA59AC}" type="slidenum">
              <a:rPr lang="en-AU"/>
              <a:pPr>
                <a:defRPr/>
              </a:pPr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9079937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defPPr>
              <a:defRPr kern="1200" smtId="4294967295"/>
            </a:defPPr>
            <a:lvl1pPr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defTabSz="45085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defTabSz="45085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defTabSz="45085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defTabSz="45085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842B0325-ACC9-488E-8876-C4E9E3B68AD8}" type="slidenum">
              <a:rPr lang="en-AU" sz="6000" smtClean="0"/>
              <a:t>1</a:t>
            </a:fld>
            <a:endParaRPr lang="en-AU" sz="6000"/>
          </a:p>
        </p:txBody>
      </p:sp>
      <p:sp>
        <p:nvSpPr>
          <p:cNvPr id="40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1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>
            <a:defPPr>
              <a:defRPr kern="1200" smtId="4294967295"/>
            </a:defPPr>
          </a:lstStyle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123" y="10226675"/>
            <a:ext cx="37306957" cy="7054850"/>
          </a:xfrm>
        </p:spPr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4245" y="18653125"/>
            <a:ext cx="30722711" cy="8413750"/>
          </a:xfrm>
        </p:spPr>
        <p:txBody>
          <a:bodyPr/>
          <a:lstStyle>
            <a:defPPr>
              <a:defRPr kern="1200" smtId="4294967295"/>
            </a:defPPr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0DA66E67-F948-4693-96A5-27BC239C04A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922583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0EC1B4D6-BEE2-4AF6-A92E-38CD68913D5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762665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1" y="21153439"/>
            <a:ext cx="37306957" cy="6537325"/>
          </a:xfrm>
        </p:spPr>
        <p:txBody>
          <a:bodyPr anchor="t"/>
          <a:lstStyle>
            <a:defPPr>
              <a:defRPr kern="1200" smtId="4294967295"/>
            </a:defPPr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1" y="13952538"/>
            <a:ext cx="37306957" cy="7200900"/>
          </a:xfrm>
        </p:spPr>
        <p:txBody>
          <a:bodyPr anchor="b"/>
          <a:lstStyle>
            <a:defPPr>
              <a:defRPr kern="1200" smtId="4294967295"/>
            </a:defPPr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D8650354-6837-43DB-843B-C6021BD2EF3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38210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93534" y="9509126"/>
            <a:ext cx="18584332" cy="19751675"/>
          </a:xfrm>
        </p:spPr>
        <p:txBody>
          <a:bodyPr/>
          <a:lstStyle>
            <a:defPPr>
              <a:defRPr kern="1200" smtId="4294967295"/>
            </a:defPPr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13334" y="9509126"/>
            <a:ext cx="18584332" cy="19751675"/>
          </a:xfrm>
        </p:spPr>
        <p:txBody>
          <a:bodyPr/>
          <a:lstStyle>
            <a:defPPr>
              <a:defRPr kern="1200" smtId="4294967295"/>
            </a:defPPr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4296FF25-ADB1-4315-9622-9852994CD1E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09162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279" y="1317625"/>
            <a:ext cx="39502643" cy="5486400"/>
          </a:xfrm>
        </p:spPr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4278" y="7369176"/>
            <a:ext cx="19392900" cy="3070225"/>
          </a:xfrm>
        </p:spPr>
        <p:txBody>
          <a:bodyPr anchor="b"/>
          <a:lstStyle>
            <a:defPPr>
              <a:defRPr kern="1200" smtId="4294967295"/>
            </a:defPPr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4278" y="10439400"/>
            <a:ext cx="19392900" cy="18965862"/>
          </a:xfrm>
        </p:spPr>
        <p:txBody>
          <a:bodyPr/>
          <a:lstStyle>
            <a:defPPr>
              <a:defRPr kern="1200" smtId="4294967295"/>
            </a:defPPr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5555" y="7369176"/>
            <a:ext cx="19401368" cy="3070225"/>
          </a:xfrm>
        </p:spPr>
        <p:txBody>
          <a:bodyPr anchor="b"/>
          <a:lstStyle>
            <a:defPPr>
              <a:defRPr kern="1200" smtId="4294967295"/>
            </a:defPPr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5555" y="10439400"/>
            <a:ext cx="19401368" cy="18965862"/>
          </a:xfrm>
        </p:spPr>
        <p:txBody>
          <a:bodyPr/>
          <a:lstStyle>
            <a:defPPr>
              <a:defRPr kern="1200" smtId="4294967295"/>
            </a:defPPr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72EF82B1-171C-4CAC-B9C4-22062286C8C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223922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678F620B-8934-45A0-BE2C-EF6C76032C4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386339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A3ECE3F5-A3DD-46D3-8112-19EE7FD1DDF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425270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>
        <p15:guide id="1" orient="horz" pos="10368" userDrawn="1">
          <p15:clr>
            <a:srgbClr val="FBAE40"/>
          </p15:clr>
        </p15:guide>
        <p15:guide id="2" pos="1382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278" y="1311275"/>
            <a:ext cx="14439900" cy="5576888"/>
          </a:xfrm>
        </p:spPr>
        <p:txBody>
          <a:bodyPr anchor="b"/>
          <a:lstStyle>
            <a:defPPr>
              <a:defRPr kern="1200" smtId="4294967295"/>
            </a:defPPr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523" y="1311275"/>
            <a:ext cx="24536400" cy="28093988"/>
          </a:xfrm>
        </p:spPr>
        <p:txBody>
          <a:bodyPr/>
          <a:lstStyle>
            <a:defPPr>
              <a:defRPr kern="1200" smtId="4294967295"/>
            </a:defPPr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4278" y="6888163"/>
            <a:ext cx="14439900" cy="22517100"/>
          </a:xfrm>
        </p:spPr>
        <p:txBody>
          <a:bodyPr/>
          <a:lstStyle>
            <a:defPPr>
              <a:defRPr kern="1200" smtId="4294967295"/>
            </a:defPPr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96691E56-DA67-4BF5-BA67-706F30B370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89561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3545" y="23042564"/>
            <a:ext cx="26334157" cy="2720975"/>
          </a:xfrm>
        </p:spPr>
        <p:txBody>
          <a:bodyPr anchor="b"/>
          <a:lstStyle>
            <a:defPPr>
              <a:defRPr kern="1200" smtId="4294967295"/>
            </a:defPPr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3545" y="2941638"/>
            <a:ext cx="26334157" cy="19750088"/>
          </a:xfrm>
        </p:spPr>
        <p:txBody>
          <a:bodyPr/>
          <a:lstStyle>
            <a:defPPr>
              <a:defRPr kern="1200" smtId="4294967295"/>
            </a:defPPr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3545" y="25763539"/>
            <a:ext cx="26334157" cy="3862387"/>
          </a:xfrm>
        </p:spPr>
        <p:txBody>
          <a:bodyPr/>
          <a:lstStyle>
            <a:defPPr>
              <a:defRPr kern="1200" smtId="4294967295"/>
            </a:defPPr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87F51DAE-E528-43E1-8BE0-91521416EF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2948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2DA27A25-0059-41B6-A6E5-54D93C1080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187469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271635" y="2925763"/>
            <a:ext cx="9326033" cy="26335038"/>
          </a:xfrm>
        </p:spPr>
        <p:txBody>
          <a:bodyPr vert="eaVert"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93534" y="2925763"/>
            <a:ext cx="27842635" cy="26335038"/>
          </a:xfrm>
        </p:spPr>
        <p:txBody>
          <a:bodyPr vert="eaVert"/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043B26BC-A2E6-4CDA-9F76-12293F26600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18540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96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294063" y="2925763"/>
            <a:ext cx="37303075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ctr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294063" y="9509125"/>
            <a:ext cx="37303075" cy="1975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3294063" y="29992638"/>
            <a:ext cx="9144000" cy="219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4267200">
              <a:defRPr sz="65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3938" y="29992638"/>
            <a:ext cx="13903325" cy="219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ctr" defTabSz="4267200">
              <a:defRPr sz="65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138" y="29992638"/>
            <a:ext cx="9144000" cy="219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4267200">
              <a:defRPr sz="6500"/>
            </a:lvl1pPr>
          </a:lstStyle>
          <a:p>
            <a:pPr>
              <a:defRPr/>
            </a:pPr>
            <a:fld id="{469A0CB4-D18D-4AEF-B324-9EDF067D13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 smtId="4294967295"/>
      </a:defPPr>
      <a:lvl1pPr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+mj-lt"/>
          <a:ea typeface="+mj-ea"/>
          <a:cs typeface="+mj-cs"/>
        </a:defRPr>
      </a:lvl1pPr>
      <a:lvl2pPr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2pPr>
      <a:lvl3pPr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3pPr>
      <a:lvl4pPr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4pPr>
      <a:lvl5pPr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5pPr>
      <a:lvl6pPr marL="457200"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6pPr>
      <a:lvl7pPr marL="914400"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7pPr>
      <a:lvl8pPr marL="1371600"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8pPr>
      <a:lvl9pPr marL="1828800"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9pPr>
    </p:titleStyle>
    <p:bodyStyle>
      <a:defPPr>
        <a:defRPr kern="1200" smtId="4294967295"/>
      </a:defPPr>
      <a:lvl1pPr marL="1600200" indent="-1600200" algn="l" defTabSz="4267200" rtl="0" eaLnBrk="0" fontAlgn="base" hangingPunct="0">
        <a:spcBef>
          <a:spcPct val="20000"/>
        </a:spcBef>
        <a:spcAft>
          <a:spcPct val="0"/>
        </a:spcAft>
        <a:buChar char="•"/>
        <a:defRPr sz="14900">
          <a:solidFill>
            <a:schemeClr val="tx1"/>
          </a:solidFill>
          <a:latin typeface="+mn-lt"/>
          <a:ea typeface="+mn-ea"/>
          <a:cs typeface="+mn-cs"/>
        </a:defRPr>
      </a:lvl1pPr>
      <a:lvl2pPr marL="3467100" indent="-1333500" algn="l" defTabSz="4267200" rtl="0" eaLnBrk="0" fontAlgn="base" hangingPunct="0">
        <a:spcBef>
          <a:spcPct val="20000"/>
        </a:spcBef>
        <a:spcAft>
          <a:spcPct val="0"/>
        </a:spcAft>
        <a:buChar char="–"/>
        <a:defRPr sz="13100">
          <a:solidFill>
            <a:schemeClr val="tx1"/>
          </a:solidFill>
          <a:latin typeface="+mn-lt"/>
        </a:defRPr>
      </a:lvl2pPr>
      <a:lvl3pPr marL="5334000" indent="-1066800" algn="l" defTabSz="4267200" rtl="0" eaLnBrk="0" fontAlgn="base" hangingPunct="0">
        <a:spcBef>
          <a:spcPct val="20000"/>
        </a:spcBef>
        <a:spcAft>
          <a:spcPct val="0"/>
        </a:spcAft>
        <a:buChar char="•"/>
        <a:defRPr sz="11200">
          <a:solidFill>
            <a:schemeClr val="tx1"/>
          </a:solidFill>
          <a:latin typeface="+mn-lt"/>
        </a:defRPr>
      </a:lvl3pPr>
      <a:lvl4pPr marL="7467600" indent="-1066800" algn="l" defTabSz="4267200" rtl="0" eaLnBrk="0" fontAlgn="base" hangingPunct="0">
        <a:spcBef>
          <a:spcPct val="20000"/>
        </a:spcBef>
        <a:spcAft>
          <a:spcPct val="0"/>
        </a:spcAft>
        <a:buChar char="–"/>
        <a:defRPr sz="9300">
          <a:solidFill>
            <a:schemeClr val="tx1"/>
          </a:solidFill>
          <a:latin typeface="+mn-lt"/>
        </a:defRPr>
      </a:lvl4pPr>
      <a:lvl5pPr marL="9601200" indent="-1066800" algn="l" defTabSz="4267200" rtl="0" eaLnBrk="0" fontAlgn="base" hangingPunct="0">
        <a:spcBef>
          <a:spcPct val="20000"/>
        </a:spcBef>
        <a:spcAft>
          <a:spcPct val="0"/>
        </a:spcAft>
        <a:buChar char="»"/>
        <a:defRPr sz="9300">
          <a:solidFill>
            <a:schemeClr val="tx1"/>
          </a:solidFill>
          <a:latin typeface="+mn-lt"/>
        </a:defRPr>
      </a:lvl5pPr>
      <a:lvl6pPr marL="10058400" indent="-1066800" algn="l" defTabSz="4267200" rtl="0" eaLnBrk="0" fontAlgn="base" hangingPunct="0">
        <a:spcBef>
          <a:spcPct val="20000"/>
        </a:spcBef>
        <a:spcAft>
          <a:spcPct val="0"/>
        </a:spcAft>
        <a:buChar char="»"/>
        <a:defRPr sz="9300">
          <a:solidFill>
            <a:schemeClr val="tx1"/>
          </a:solidFill>
          <a:latin typeface="+mn-lt"/>
        </a:defRPr>
      </a:lvl6pPr>
      <a:lvl7pPr marL="10515600" indent="-1066800" algn="l" defTabSz="4267200" rtl="0" eaLnBrk="0" fontAlgn="base" hangingPunct="0">
        <a:spcBef>
          <a:spcPct val="20000"/>
        </a:spcBef>
        <a:spcAft>
          <a:spcPct val="0"/>
        </a:spcAft>
        <a:buChar char="»"/>
        <a:defRPr sz="9300">
          <a:solidFill>
            <a:schemeClr val="tx1"/>
          </a:solidFill>
          <a:latin typeface="+mn-lt"/>
        </a:defRPr>
      </a:lvl7pPr>
      <a:lvl8pPr marL="10972800" indent="-1066800" algn="l" defTabSz="4267200" rtl="0" eaLnBrk="0" fontAlgn="base" hangingPunct="0">
        <a:spcBef>
          <a:spcPct val="20000"/>
        </a:spcBef>
        <a:spcAft>
          <a:spcPct val="0"/>
        </a:spcAft>
        <a:buChar char="»"/>
        <a:defRPr sz="9300">
          <a:solidFill>
            <a:schemeClr val="tx1"/>
          </a:solidFill>
          <a:latin typeface="+mn-lt"/>
        </a:defRPr>
      </a:lvl8pPr>
      <a:lvl9pPr marL="11430000" indent="-1066800" algn="l" defTabSz="4267200" rtl="0" eaLnBrk="0" fontAlgn="base" hangingPunct="0">
        <a:spcBef>
          <a:spcPct val="20000"/>
        </a:spcBef>
        <a:spcAft>
          <a:spcPct val="0"/>
        </a:spcAft>
        <a:buChar char="»"/>
        <a:defRPr sz="93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emf"/><Relationship Id="rId18" Type="http://schemas.openxmlformats.org/officeDocument/2006/relationships/image" Target="../media/image16.emf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12" Type="http://schemas.openxmlformats.org/officeDocument/2006/relationships/image" Target="../media/image10.emf"/><Relationship Id="rId17" Type="http://schemas.openxmlformats.org/officeDocument/2006/relationships/image" Target="../media/image15.emf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emf"/><Relationship Id="rId20" Type="http://schemas.openxmlformats.org/officeDocument/2006/relationships/image" Target="../media/image18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emf"/><Relationship Id="rId5" Type="http://schemas.openxmlformats.org/officeDocument/2006/relationships/image" Target="../media/image3.svg"/><Relationship Id="rId15" Type="http://schemas.openxmlformats.org/officeDocument/2006/relationships/image" Target="../media/image13.emf"/><Relationship Id="rId10" Type="http://schemas.openxmlformats.org/officeDocument/2006/relationships/image" Target="../media/image8.emf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F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33">
            <a:extLst>
              <a:ext uri="{FF2B5EF4-FFF2-40B4-BE49-F238E27FC236}">
                <a16:creationId xmlns:a16="http://schemas.microsoft.com/office/drawing/2014/main" id="{35D866C2-A418-6C35-8D4F-11B78C6D2283}"/>
              </a:ext>
            </a:extLst>
          </p:cNvPr>
          <p:cNvSpPr/>
          <p:nvPr/>
        </p:nvSpPr>
        <p:spPr>
          <a:xfrm>
            <a:off x="15240" y="0"/>
            <a:ext cx="9966869" cy="32918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endParaRPr lang="en-US" sz="9600" dirty="0">
              <a:latin typeface="+mj-lt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962C1A-C4F3-4707-A73A-A754C935359B}"/>
              </a:ext>
            </a:extLst>
          </p:cNvPr>
          <p:cNvSpPr/>
          <p:nvPr/>
        </p:nvSpPr>
        <p:spPr>
          <a:xfrm>
            <a:off x="31800359" y="-5631"/>
            <a:ext cx="12090841" cy="329240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r>
              <a:rPr lang="en-US" sz="96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energy</a:t>
            </a:r>
            <a:endParaRPr lang="en-US" sz="9600" dirty="0">
              <a:latin typeface="+mj-lt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067F8A1-EE95-4354-8E2F-952A6BBDBFFC}"/>
              </a:ext>
            </a:extLst>
          </p:cNvPr>
          <p:cNvSpPr txBox="1"/>
          <p:nvPr/>
        </p:nvSpPr>
        <p:spPr>
          <a:xfrm>
            <a:off x="670853" y="1524000"/>
            <a:ext cx="8991600" cy="5697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pPr marL="366713" indent="-366713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Cities play a crucial role in addressing climate change close to where people live.</a:t>
            </a:r>
          </a:p>
          <a:p>
            <a:pPr marL="366713" indent="-366713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76% of cities covered</a:t>
            </a: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by</a:t>
            </a: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no more than one study </a:t>
            </a: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– a large gap to guide action.</a:t>
            </a:r>
          </a:p>
          <a:p>
            <a:pPr marL="366713" indent="-366713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Nobel laureate Elinor Ostrom emphasized </a:t>
            </a: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decentralized experimentation and learning from local successes</a:t>
            </a: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, but a </a:t>
            </a: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systematic analysis remains lacking</a:t>
            </a: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D5F59B-F8CA-463C-871F-D1042309DE00}"/>
              </a:ext>
            </a:extLst>
          </p:cNvPr>
          <p:cNvSpPr txBox="1"/>
          <p:nvPr/>
        </p:nvSpPr>
        <p:spPr>
          <a:xfrm>
            <a:off x="533400" y="762000"/>
            <a:ext cx="8991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r>
              <a:rPr lang="en-US" sz="4800" dirty="0">
                <a:solidFill>
                  <a:srgbClr val="1C3F5E"/>
                </a:solidFill>
                <a:latin typeface="CMU Sans Serif Medium" panose="02000603000000000000" pitchFamily="2" charset="0"/>
              </a:rPr>
              <a:t>Introduction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6F17B6-B5C7-4922-B9E2-CD14BD16A568}"/>
              </a:ext>
            </a:extLst>
          </p:cNvPr>
          <p:cNvSpPr txBox="1"/>
          <p:nvPr/>
        </p:nvSpPr>
        <p:spPr>
          <a:xfrm>
            <a:off x="688851" y="10287000"/>
            <a:ext cx="8991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r>
              <a:rPr lang="en-US" sz="4800" dirty="0">
                <a:solidFill>
                  <a:srgbClr val="1C3F5E"/>
                </a:solidFill>
                <a:latin typeface="CMU Sans Serif Medium" panose="02000603000000000000" pitchFamily="2" charset="0"/>
              </a:rPr>
              <a:t>Methods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6B438FB-652E-AD52-9D04-9CAC097727AD}"/>
              </a:ext>
            </a:extLst>
          </p:cNvPr>
          <p:cNvSpPr txBox="1"/>
          <p:nvPr/>
        </p:nvSpPr>
        <p:spPr>
          <a:xfrm>
            <a:off x="685803" y="7467600"/>
            <a:ext cx="8991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r>
              <a:rPr lang="en-US" sz="4800" dirty="0">
                <a:solidFill>
                  <a:srgbClr val="1C3F5E"/>
                </a:solidFill>
                <a:latin typeface="CMU Sans Serif Medium" panose="02000603000000000000" pitchFamily="2" charset="0"/>
              </a:rPr>
              <a:t>Research Question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27CED52-6EF9-BD93-4FFF-E8F6BAC464BB}"/>
              </a:ext>
            </a:extLst>
          </p:cNvPr>
          <p:cNvSpPr txBox="1"/>
          <p:nvPr/>
        </p:nvSpPr>
        <p:spPr>
          <a:xfrm>
            <a:off x="32846400" y="22783800"/>
            <a:ext cx="9293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r>
              <a:rPr lang="en-US" sz="4800" dirty="0">
                <a:solidFill>
                  <a:srgbClr val="1C3F5E"/>
                </a:solidFill>
                <a:latin typeface="CMU Sans Serif Medium" panose="02000603000000000000" pitchFamily="2" charset="0"/>
              </a:rPr>
              <a:t>Conclusion</a:t>
            </a:r>
          </a:p>
        </p:txBody>
      </p:sp>
      <p:sp>
        <p:nvSpPr>
          <p:cNvPr id="75" name="Title 11">
            <a:extLst>
              <a:ext uri="{FF2B5EF4-FFF2-40B4-BE49-F238E27FC236}">
                <a16:creationId xmlns:a16="http://schemas.microsoft.com/office/drawing/2014/main" id="{1C9E3D37-DC9E-9F7D-B183-83C779F5058B}"/>
              </a:ext>
            </a:extLst>
          </p:cNvPr>
          <p:cNvSpPr txBox="1"/>
          <p:nvPr/>
        </p:nvSpPr>
        <p:spPr>
          <a:xfrm>
            <a:off x="32796000" y="29064680"/>
            <a:ext cx="5105400" cy="881920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kern="1200" smtId="4294967295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</a:rPr>
              <a:t>Scan me to </a:t>
            </a:r>
            <a:br>
              <a:rPr lang="en-US" sz="3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</a:rPr>
            </a:br>
            <a:r>
              <a:rPr lang="en-US" sz="3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</a:rPr>
              <a:t>read the methods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7B3795B-8834-6627-AE2C-DC35E2A4B288}"/>
              </a:ext>
            </a:extLst>
          </p:cNvPr>
          <p:cNvSpPr txBox="1"/>
          <p:nvPr/>
        </p:nvSpPr>
        <p:spPr>
          <a:xfrm>
            <a:off x="685800" y="28651200"/>
            <a:ext cx="8873876" cy="35811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pPr marL="603250" indent="-571500">
              <a:lnSpc>
                <a:spcPts val="5500"/>
              </a:lnSpc>
              <a:buFont typeface="Wingdings" pitchFamily="2" charset="2"/>
              <a:buChar char="à"/>
              <a:tabLst>
                <a:tab pos="8355013" algn="l"/>
              </a:tabLst>
            </a:pPr>
            <a:r>
              <a:rPr lang="en-GB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  <a:sym typeface="Wingdings" pitchFamily="2" charset="2"/>
              </a:rPr>
              <a:t>Most comprehensive available evidence base linked to different city types</a:t>
            </a:r>
          </a:p>
          <a:p>
            <a:pPr marL="603250" indent="-571500">
              <a:lnSpc>
                <a:spcPts val="5500"/>
              </a:lnSpc>
              <a:buFont typeface="Wingdings" pitchFamily="2" charset="2"/>
              <a:buChar char="à"/>
              <a:tabLst>
                <a:tab pos="8355013" algn="l"/>
              </a:tabLst>
            </a:pPr>
            <a:r>
              <a:rPr lang="en-GB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  <a:sym typeface="Wingdings" pitchFamily="2" charset="2"/>
              </a:rPr>
              <a:t>Provides a basis for a systematic selection and in-depth review of city case studies in the IPCC Special Report on Cities.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E1F2186-7271-BFBF-8D86-1B59AD40D56B}"/>
              </a:ext>
            </a:extLst>
          </p:cNvPr>
          <p:cNvSpPr txBox="1"/>
          <p:nvPr/>
        </p:nvSpPr>
        <p:spPr>
          <a:xfrm>
            <a:off x="32896233" y="23698200"/>
            <a:ext cx="10288492" cy="49917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pPr marL="571500" indent="-571500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Most </a:t>
            </a: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comprehensive available analysis of urban climate solutions </a:t>
            </a: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for different types of cities.</a:t>
            </a:r>
          </a:p>
          <a:p>
            <a:pPr marL="571500" indent="-571500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Distinct climate action challenges </a:t>
            </a: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regarding development, mitigation, urban planning, and compound challenges (mega all in) for cities.</a:t>
            </a:r>
          </a:p>
          <a:p>
            <a:pPr marL="571500" indent="-571500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Learning from case studies </a:t>
            </a: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in similar cities </a:t>
            </a: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could</a:t>
            </a: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partly </a:t>
            </a: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mitigate knowledge biases</a:t>
            </a: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.</a:t>
            </a:r>
          </a:p>
        </p:txBody>
      </p:sp>
      <p:sp>
        <p:nvSpPr>
          <p:cNvPr id="22" name="Title 11">
            <a:extLst>
              <a:ext uri="{FF2B5EF4-FFF2-40B4-BE49-F238E27FC236}">
                <a16:creationId xmlns:a16="http://schemas.microsoft.com/office/drawing/2014/main" id="{056580DA-EAD8-CAE2-2B26-A34854C7D9A4}"/>
              </a:ext>
            </a:extLst>
          </p:cNvPr>
          <p:cNvSpPr txBox="1"/>
          <p:nvPr/>
        </p:nvSpPr>
        <p:spPr>
          <a:xfrm>
            <a:off x="10896600" y="4267200"/>
            <a:ext cx="20405949" cy="1219200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kern="1200" smtId="4294967295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60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Vast evidence-based learning potential for 4 city types</a:t>
            </a:r>
          </a:p>
        </p:txBody>
      </p:sp>
      <p:sp>
        <p:nvSpPr>
          <p:cNvPr id="24" name="Title 11">
            <a:extLst>
              <a:ext uri="{FF2B5EF4-FFF2-40B4-BE49-F238E27FC236}">
                <a16:creationId xmlns:a16="http://schemas.microsoft.com/office/drawing/2014/main" id="{29FBB37B-45F6-8289-81D0-F439F80A83B2}"/>
              </a:ext>
            </a:extLst>
          </p:cNvPr>
          <p:cNvSpPr txBox="1"/>
          <p:nvPr/>
        </p:nvSpPr>
        <p:spPr>
          <a:xfrm>
            <a:off x="10896600" y="739515"/>
            <a:ext cx="19964399" cy="1546485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kern="1200" smtId="4294967295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7200" b="1" dirty="0">
                <a:solidFill>
                  <a:schemeClr val="bg1"/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A global urban typology for transferable evidence-based climate solutions</a:t>
            </a:r>
          </a:p>
        </p:txBody>
      </p:sp>
      <p:sp>
        <p:nvSpPr>
          <p:cNvPr id="35" name="Title 11">
            <a:extLst>
              <a:ext uri="{FF2B5EF4-FFF2-40B4-BE49-F238E27FC236}">
                <a16:creationId xmlns:a16="http://schemas.microsoft.com/office/drawing/2014/main" id="{C270DD33-1D36-5BDA-8067-DB25FDC3BCFD}"/>
              </a:ext>
            </a:extLst>
          </p:cNvPr>
          <p:cNvSpPr txBox="1"/>
          <p:nvPr/>
        </p:nvSpPr>
        <p:spPr>
          <a:xfrm>
            <a:off x="10896600" y="3025515"/>
            <a:ext cx="19965600" cy="1546485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kern="1200" smtId="4294967295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>
                <a:solidFill>
                  <a:schemeClr val="bg1"/>
                </a:solidFill>
                <a:latin typeface="CMU Sans Serif Medium" panose="02000603000000000000" pitchFamily="2" charset="0"/>
              </a:rPr>
              <a:t>Simon Montfort, Florian </a:t>
            </a:r>
            <a:r>
              <a:rPr lang="en-US" sz="3600" dirty="0" err="1">
                <a:solidFill>
                  <a:schemeClr val="bg1"/>
                </a:solidFill>
                <a:latin typeface="CMU Sans Serif Medium" panose="02000603000000000000" pitchFamily="2" charset="0"/>
              </a:rPr>
              <a:t>Nachtigall</a:t>
            </a:r>
            <a:r>
              <a:rPr lang="en-US" sz="3600" dirty="0">
                <a:solidFill>
                  <a:schemeClr val="bg1"/>
                </a:solidFill>
                <a:latin typeface="CMU Sans Serif Medium" panose="02000603000000000000" pitchFamily="2" charset="0"/>
              </a:rPr>
              <a:t>, Claudia R. Binder, Marta </a:t>
            </a:r>
            <a:r>
              <a:rPr lang="en-US" sz="3600" dirty="0" err="1">
                <a:solidFill>
                  <a:schemeClr val="bg1"/>
                </a:solidFill>
                <a:latin typeface="CMU Sans Serif Medium" panose="02000603000000000000" pitchFamily="2" charset="0"/>
              </a:rPr>
              <a:t>Olazabal</a:t>
            </a:r>
            <a:r>
              <a:rPr lang="en-US" sz="3600" dirty="0">
                <a:solidFill>
                  <a:schemeClr val="bg1"/>
                </a:solidFill>
                <a:latin typeface="CMU Sans Serif Medium" panose="02000603000000000000" pitchFamily="2" charset="0"/>
              </a:rPr>
              <a:t>, Tim </a:t>
            </a:r>
            <a:r>
              <a:rPr lang="en-US" sz="3600" dirty="0" err="1">
                <a:solidFill>
                  <a:schemeClr val="bg1"/>
                </a:solidFill>
                <a:latin typeface="CMU Sans Serif Medium" panose="02000603000000000000" pitchFamily="2" charset="0"/>
              </a:rPr>
              <a:t>Repke</a:t>
            </a:r>
            <a:r>
              <a:rPr lang="en-US" sz="3600" dirty="0">
                <a:solidFill>
                  <a:schemeClr val="bg1"/>
                </a:solidFill>
                <a:latin typeface="CMU Sans Serif Medium" panose="02000603000000000000" pitchFamily="2" charset="0"/>
              </a:rPr>
              <a:t>, Felix </a:t>
            </a:r>
            <a:r>
              <a:rPr lang="en-US" sz="3600" dirty="0" err="1">
                <a:solidFill>
                  <a:schemeClr val="bg1"/>
                </a:solidFill>
                <a:latin typeface="CMU Sans Serif Medium" panose="02000603000000000000" pitchFamily="2" charset="0"/>
              </a:rPr>
              <a:t>Creutzig</a:t>
            </a:r>
            <a:endParaRPr lang="en-US" sz="3600" dirty="0">
              <a:solidFill>
                <a:schemeClr val="bg1"/>
              </a:solidFill>
              <a:latin typeface="CMU Sans Serif Medium" panose="02000603000000000000" pitchFamily="2" charset="0"/>
            </a:endParaRPr>
          </a:p>
        </p:txBody>
      </p:sp>
      <p:pic>
        <p:nvPicPr>
          <p:cNvPr id="39" name="Picture 2">
            <a:extLst>
              <a:ext uri="{FF2B5EF4-FFF2-40B4-BE49-F238E27FC236}">
                <a16:creationId xmlns:a16="http://schemas.microsoft.com/office/drawing/2014/main" id="{476FE0CA-C225-B75B-41A1-ED1FA2C74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2896231" y="30091800"/>
            <a:ext cx="1836000" cy="183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Graphic 49" descr="City outline">
            <a:extLst>
              <a:ext uri="{FF2B5EF4-FFF2-40B4-BE49-F238E27FC236}">
                <a16:creationId xmlns:a16="http://schemas.microsoft.com/office/drawing/2014/main" id="{F4F9E68D-6FEF-DD43-DA96-2B2BEDF24E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3" y="11201400"/>
            <a:ext cx="1219200" cy="12192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70046CD-CC65-F48D-1FFE-34B5728F7842}"/>
              </a:ext>
            </a:extLst>
          </p:cNvPr>
          <p:cNvGrpSpPr/>
          <p:nvPr/>
        </p:nvGrpSpPr>
        <p:grpSpPr>
          <a:xfrm>
            <a:off x="838200" y="11113979"/>
            <a:ext cx="8915406" cy="17167440"/>
            <a:chOff x="685925" y="17073943"/>
            <a:chExt cx="8945822" cy="182349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2080D9E-55BA-CCD5-C3D5-041896D3D53E}"/>
                </a:ext>
              </a:extLst>
            </p:cNvPr>
            <p:cNvGrpSpPr/>
            <p:nvPr/>
          </p:nvGrpSpPr>
          <p:grpSpPr>
            <a:xfrm>
              <a:off x="685925" y="17073943"/>
              <a:ext cx="8945822" cy="18234971"/>
              <a:chOff x="1592503" y="589963"/>
              <a:chExt cx="3270453" cy="614558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AD9B751C-A7AA-4D2A-0FF7-76BD28AC8BF5}"/>
                  </a:ext>
                </a:extLst>
              </p:cNvPr>
              <p:cNvGrpSpPr/>
              <p:nvPr/>
            </p:nvGrpSpPr>
            <p:grpSpPr>
              <a:xfrm>
                <a:off x="1648409" y="589963"/>
                <a:ext cx="3214547" cy="6145588"/>
                <a:chOff x="5401302" y="2552156"/>
                <a:chExt cx="3584243" cy="6145588"/>
              </a:xfrm>
            </p:grpSpPr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FCD2E998-FF9A-4EFF-8DED-2F6CE60CE8B1}"/>
                    </a:ext>
                  </a:extLst>
                </p:cNvPr>
                <p:cNvSpPr/>
                <p:nvPr/>
              </p:nvSpPr>
              <p:spPr>
                <a:xfrm>
                  <a:off x="5911134" y="2552156"/>
                  <a:ext cx="2962683" cy="281365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marL="493713" indent="-493713">
                    <a:lnSpc>
                      <a:spcPts val="4720"/>
                    </a:lnSpc>
                  </a:pP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1) Develop a global typology of cities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&gt;11k cities </a:t>
                  </a: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in the Global Human Settlement Layer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Deep Embedded Clustering</a:t>
                  </a: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 to group cities based on shared characteristics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Map climate solutions </a:t>
                  </a: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to relevant city characteristics (e.g., GDP, population).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Compare</a:t>
                  </a: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 </a:t>
                  </a: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covariate values to global averages </a:t>
                  </a: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to calculate solution priority.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Normalize scores and </a:t>
                  </a: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classify priorities as High, Medium, or Low</a:t>
                  </a: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.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Apply the same transparent, replicable procedure across all city clusters.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endParaRPr lang="en-GB" sz="3000" dirty="0">
                    <a:solidFill>
                      <a:schemeClr val="tx1"/>
                    </a:solidFill>
                    <a:latin typeface="CMU Sans Serif Medium" panose="02000603000000000000" pitchFamily="2" charset="0"/>
                    <a:ea typeface="CMU Sans Serif Medium" panose="02000603000000000000" pitchFamily="2" charset="0"/>
                    <a:cs typeface="CMU Sans Serif Medium" panose="02000603000000000000" pitchFamily="2" charset="0"/>
                  </a:endParaRPr>
                </a:p>
                <a:p>
                  <a:pPr marL="493713" indent="-493713">
                    <a:buFont typeface="Arial" panose="020B0604020202020204" pitchFamily="34" charset="0"/>
                    <a:buChar char="•"/>
                  </a:pPr>
                  <a:endParaRPr lang="en-GB" sz="3000" dirty="0">
                    <a:solidFill>
                      <a:schemeClr val="tx1"/>
                    </a:solidFill>
                    <a:latin typeface="CMU Sans Serif Medium" panose="02000603000000000000" pitchFamily="2" charset="0"/>
                    <a:ea typeface="CMU Sans Serif Medium" panose="02000603000000000000" pitchFamily="2" charset="0"/>
                    <a:cs typeface="CMU Sans Serif Medium" panose="02000603000000000000" pitchFamily="2" charset="0"/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F5D13CE9-C3ED-924A-2881-9021638753CC}"/>
                    </a:ext>
                  </a:extLst>
                </p:cNvPr>
                <p:cNvSpPr/>
                <p:nvPr/>
              </p:nvSpPr>
              <p:spPr>
                <a:xfrm>
                  <a:off x="5911134" y="5468726"/>
                  <a:ext cx="3074411" cy="138933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marL="493713" indent="-493713">
                    <a:lnSpc>
                      <a:spcPts val="4720"/>
                    </a:lnSpc>
                  </a:pP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2) Construct a scientific evidence database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Using keywords, download 230k articles on climate change and cities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Identify </a:t>
                  </a: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&gt;50k case studies</a:t>
                  </a: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 using using keyword-match-augmented geoparsing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Train a classifier </a:t>
                  </a: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to identify solutions (ongoing, </a:t>
                  </a: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currently keyword-based </a:t>
                  </a: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identification) from case studies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endParaRPr lang="en-GB" sz="3000" dirty="0">
                    <a:solidFill>
                      <a:schemeClr val="tx1"/>
                    </a:solidFill>
                    <a:latin typeface="CMU Sans Serif Medium" panose="02000603000000000000" pitchFamily="2" charset="0"/>
                    <a:ea typeface="CMU Sans Serif Medium" panose="02000603000000000000" pitchFamily="2" charset="0"/>
                    <a:cs typeface="CMU Sans Serif Medium" panose="02000603000000000000" pitchFamily="2" charset="0"/>
                  </a:endParaRPr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C90CDF0D-1030-7AD2-0F68-9220EDD87D84}"/>
                    </a:ext>
                  </a:extLst>
                </p:cNvPr>
                <p:cNvSpPr/>
                <p:nvPr/>
              </p:nvSpPr>
              <p:spPr>
                <a:xfrm>
                  <a:off x="5931147" y="7302549"/>
                  <a:ext cx="2960856" cy="139519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marL="493713" indent="-493713">
                    <a:lnSpc>
                      <a:spcPts val="4720"/>
                    </a:lnSpc>
                  </a:pP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3) </a:t>
                  </a:r>
                  <a:r>
                    <a:rPr lang="en-GB" sz="3000" b="1" dirty="0" err="1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Analyze</a:t>
                  </a: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 the learning potential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Map the city characteristics and research coverage </a:t>
                  </a: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of 4 types of cities to identify common challenges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Map solution priority and the number of case studies </a:t>
                  </a: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on each solution and city type</a:t>
                  </a:r>
                </a:p>
              </p:txBody>
            </p:sp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84D7FD54-575B-3B42-0659-2ADABDD07CCA}"/>
                    </a:ext>
                  </a:extLst>
                </p:cNvPr>
                <p:cNvGrpSpPr/>
                <p:nvPr/>
              </p:nvGrpSpPr>
              <p:grpSpPr>
                <a:xfrm>
                  <a:off x="5401302" y="3565460"/>
                  <a:ext cx="461886" cy="4144419"/>
                  <a:chOff x="5401302" y="3565460"/>
                  <a:chExt cx="461886" cy="4144419"/>
                </a:xfrm>
              </p:grpSpPr>
              <p:pic>
                <p:nvPicPr>
                  <p:cNvPr id="41" name="Graphic 40" descr="Presentation with bar chart outline">
                    <a:extLst>
                      <a:ext uri="{FF2B5EF4-FFF2-40B4-BE49-F238E27FC236}">
                        <a16:creationId xmlns:a16="http://schemas.microsoft.com/office/drawing/2014/main" id="{C680B882-2DEE-AB0A-4ECA-BE4EC3867F4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96DAC541-7B7A-43D3-8B79-37D633B846F1}">
                        <asvg:svgBlip xmlns:asvg="http://schemas.microsoft.com/office/drawing/2016/SVG/main" r:embed="rId7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401302" y="7247992"/>
                    <a:ext cx="461886" cy="461887"/>
                  </a:xfrm>
                  <a:prstGeom prst="rect">
                    <a:avLst/>
                  </a:prstGeom>
                </p:spPr>
              </p:pic>
              <p:cxnSp>
                <p:nvCxnSpPr>
                  <p:cNvPr id="43" name="Straight Arrow Connector 42">
                    <a:extLst>
                      <a:ext uri="{FF2B5EF4-FFF2-40B4-BE49-F238E27FC236}">
                        <a16:creationId xmlns:a16="http://schemas.microsoft.com/office/drawing/2014/main" id="{DE6A05B9-3761-6AA5-5379-E54F369B3C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588305" y="3565460"/>
                    <a:ext cx="0" cy="1006817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</p:grpSp>
          <p:pic>
            <p:nvPicPr>
              <p:cNvPr id="20" name="Graphic 19" descr="Laptop outline">
                <a:extLst>
                  <a:ext uri="{FF2B5EF4-FFF2-40B4-BE49-F238E27FC236}">
                    <a16:creationId xmlns:a16="http://schemas.microsoft.com/office/drawing/2014/main" id="{C7C7E115-209E-8641-6E0F-8DCF01EE8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592503" y="3403616"/>
                <a:ext cx="454003" cy="454003"/>
              </a:xfrm>
              <a:prstGeom prst="rect">
                <a:avLst/>
              </a:prstGeom>
            </p:spPr>
          </p:pic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A16A955-6280-81ED-2815-48A415A27FA4}"/>
                </a:ext>
              </a:extLst>
            </p:cNvPr>
            <p:cNvCxnSpPr>
              <a:cxnSpLocks/>
            </p:cNvCxnSpPr>
            <p:nvPr/>
          </p:nvCxnSpPr>
          <p:spPr>
            <a:xfrm>
              <a:off x="1314818" y="27284113"/>
              <a:ext cx="0" cy="27518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pic>
        <p:nvPicPr>
          <p:cNvPr id="53" name="Picture 52">
            <a:extLst>
              <a:ext uri="{FF2B5EF4-FFF2-40B4-BE49-F238E27FC236}">
                <a16:creationId xmlns:a16="http://schemas.microsoft.com/office/drawing/2014/main" id="{7500130D-85B9-E0B7-12BE-0CCD9BE7473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00" y="29260800"/>
            <a:ext cx="3068052" cy="17181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12A0BF-C691-09B0-5B6C-DE081B563210}"/>
              </a:ext>
            </a:extLst>
          </p:cNvPr>
          <p:cNvSpPr txBox="1"/>
          <p:nvPr/>
        </p:nvSpPr>
        <p:spPr>
          <a:xfrm>
            <a:off x="32766000" y="762000"/>
            <a:ext cx="10668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r>
              <a:rPr lang="en-US" sz="4800" dirty="0">
                <a:solidFill>
                  <a:srgbClr val="1C3F5E"/>
                </a:solidFill>
                <a:latin typeface="CMU Sans Serif Medium" panose="02000603000000000000" pitchFamily="2" charset="0"/>
              </a:rPr>
              <a:t>Characteristics and priorities of the 4 types of cities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0B1F59-DECB-2BDF-87B7-8A3AB59F7B8E}"/>
              </a:ext>
            </a:extLst>
          </p:cNvPr>
          <p:cNvSpPr txBox="1"/>
          <p:nvPr/>
        </p:nvSpPr>
        <p:spPr>
          <a:xfrm>
            <a:off x="707138" y="8305800"/>
            <a:ext cx="8970261" cy="1465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pPr marL="57150" indent="-25400">
              <a:lnSpc>
                <a:spcPts val="5500"/>
              </a:lnSpc>
            </a:pPr>
            <a:r>
              <a:rPr lang="en-GB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  <a:sym typeface="Wingdings" pitchFamily="2" charset="2"/>
              </a:rPr>
              <a:t>What is the evidence-based transfer learning potential from climate solutions in cities?</a:t>
            </a:r>
            <a:endParaRPr lang="en-US" sz="3600" dirty="0"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860AF9-1D18-E32C-2364-165E7E121884}"/>
              </a:ext>
            </a:extLst>
          </p:cNvPr>
          <p:cNvSpPr txBox="1"/>
          <p:nvPr/>
        </p:nvSpPr>
        <p:spPr>
          <a:xfrm>
            <a:off x="10972800" y="5486401"/>
            <a:ext cx="19888200" cy="94680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CH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8884DD-2D8B-F319-6566-67FBD0A797E4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13106400" y="5638800"/>
            <a:ext cx="15316200" cy="91897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7184214-2C48-13D8-05F3-FE795F5DE5E7}"/>
              </a:ext>
            </a:extLst>
          </p:cNvPr>
          <p:cNvSpPr txBox="1"/>
          <p:nvPr/>
        </p:nvSpPr>
        <p:spPr>
          <a:xfrm>
            <a:off x="11658600" y="6934200"/>
            <a:ext cx="2895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Global North bias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86A2BD-1F2F-7172-89E5-46F556BA24A9}"/>
              </a:ext>
            </a:extLst>
          </p:cNvPr>
          <p:cNvCxnSpPr>
            <a:cxnSpLocks/>
          </p:cNvCxnSpPr>
          <p:nvPr/>
        </p:nvCxnSpPr>
        <p:spPr bwMode="auto">
          <a:xfrm>
            <a:off x="13716000" y="7162800"/>
            <a:ext cx="1828800" cy="22860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607CEE8-F6D9-6177-9DC9-96D2A01BB15C}"/>
              </a:ext>
            </a:extLst>
          </p:cNvPr>
          <p:cNvSpPr txBox="1"/>
          <p:nvPr/>
        </p:nvSpPr>
        <p:spPr>
          <a:xfrm>
            <a:off x="11430000" y="13182600"/>
            <a:ext cx="2057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Global South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cities</a:t>
            </a:r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are</a:t>
            </a:r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more</a:t>
            </a:r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similar</a:t>
            </a:r>
            <a:endParaRPr lang="en-CH" sz="2000" dirty="0">
              <a:solidFill>
                <a:schemeClr val="bg1">
                  <a:lumMod val="50000"/>
                </a:schemeClr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6C74012-76D6-FC6F-5B4C-3107CF37FBB6}"/>
              </a:ext>
            </a:extLst>
          </p:cNvPr>
          <p:cNvCxnSpPr>
            <a:cxnSpLocks/>
            <a:stCxn id="14" idx="3"/>
          </p:cNvCxnSpPr>
          <p:nvPr/>
        </p:nvCxnSpPr>
        <p:spPr bwMode="auto">
          <a:xfrm flipV="1">
            <a:off x="13487400" y="13487400"/>
            <a:ext cx="1447800" cy="203032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9C51B0D-AFBA-F9CF-1826-8670810F77C2}"/>
              </a:ext>
            </a:extLst>
          </p:cNvPr>
          <p:cNvSpPr txBox="1"/>
          <p:nvPr/>
        </p:nvSpPr>
        <p:spPr>
          <a:xfrm>
            <a:off x="28803600" y="6096000"/>
            <a:ext cx="20574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R</a:t>
            </a:r>
            <a:r>
              <a:rPr lang="en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esearch bias towards mitigation challenges and mega cities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0D9ED8-E1E6-17D9-B5B5-F025FB2A069C}"/>
              </a:ext>
            </a:extLst>
          </p:cNvPr>
          <p:cNvCxnSpPr>
            <a:cxnSpLocks/>
          </p:cNvCxnSpPr>
          <p:nvPr/>
        </p:nvCxnSpPr>
        <p:spPr bwMode="auto">
          <a:xfrm flipH="1">
            <a:off x="28422600" y="7391400"/>
            <a:ext cx="30480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C38DC36-D303-D238-D367-071455B45786}"/>
              </a:ext>
            </a:extLst>
          </p:cNvPr>
          <p:cNvSpPr txBox="1"/>
          <p:nvPr/>
        </p:nvSpPr>
        <p:spPr>
          <a:xfrm>
            <a:off x="28803600" y="8991600"/>
            <a:ext cx="1905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Highest</a:t>
            </a:r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average</a:t>
            </a:r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similarity</a:t>
            </a:r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for</a:t>
            </a:r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Development and urban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planning</a:t>
            </a:r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first</a:t>
            </a:r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cities</a:t>
            </a:r>
            <a:endParaRPr lang="en-CH" sz="2000" dirty="0">
              <a:solidFill>
                <a:schemeClr val="bg1">
                  <a:lumMod val="50000"/>
                </a:schemeClr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EAE125D-7264-E6DA-36B0-1728AD128E93}"/>
              </a:ext>
            </a:extLst>
          </p:cNvPr>
          <p:cNvCxnSpPr>
            <a:cxnSpLocks/>
          </p:cNvCxnSpPr>
          <p:nvPr/>
        </p:nvCxnSpPr>
        <p:spPr bwMode="auto">
          <a:xfrm flipH="1">
            <a:off x="28422600" y="10363200"/>
            <a:ext cx="30480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6E91EAB-B9C8-B779-09C8-722F78FD5EC4}"/>
              </a:ext>
            </a:extLst>
          </p:cNvPr>
          <p:cNvCxnSpPr>
            <a:cxnSpLocks/>
          </p:cNvCxnSpPr>
          <p:nvPr/>
        </p:nvCxnSpPr>
        <p:spPr bwMode="auto">
          <a:xfrm flipH="1">
            <a:off x="28498800" y="13639800"/>
            <a:ext cx="30480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784B33D-B16C-2BEE-5DE3-72AE3FDEACBF}"/>
              </a:ext>
            </a:extLst>
          </p:cNvPr>
          <p:cNvSpPr txBox="1"/>
          <p:nvPr/>
        </p:nvSpPr>
        <p:spPr>
          <a:xfrm>
            <a:off x="28879800" y="13106400"/>
            <a:ext cx="1904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Large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evidence</a:t>
            </a:r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gaps</a:t>
            </a:r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for</a:t>
            </a:r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all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city</a:t>
            </a:r>
            <a:r>
              <a:rPr lang="de-CH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types</a:t>
            </a:r>
            <a:endParaRPr lang="en-CH" sz="2000" dirty="0">
              <a:solidFill>
                <a:schemeClr val="bg1">
                  <a:lumMod val="50000"/>
                </a:schemeClr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85" name="Title 11">
            <a:extLst>
              <a:ext uri="{FF2B5EF4-FFF2-40B4-BE49-F238E27FC236}">
                <a16:creationId xmlns:a16="http://schemas.microsoft.com/office/drawing/2014/main" id="{C6218BD6-D7E7-1D88-67A0-E9307CC34956}"/>
              </a:ext>
            </a:extLst>
          </p:cNvPr>
          <p:cNvSpPr txBox="1"/>
          <p:nvPr/>
        </p:nvSpPr>
        <p:spPr>
          <a:xfrm>
            <a:off x="10820400" y="15240000"/>
            <a:ext cx="20405949" cy="1219200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kern="1200" smtId="4294967295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60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Diverging solution priorities across different types of cities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413BB20-030F-8EAF-2C2C-33BDBF0C8EAF}"/>
              </a:ext>
            </a:extLst>
          </p:cNvPr>
          <p:cNvSpPr txBox="1"/>
          <p:nvPr/>
        </p:nvSpPr>
        <p:spPr>
          <a:xfrm>
            <a:off x="10972800" y="16230600"/>
            <a:ext cx="19888200" cy="157734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CH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BE755705-C941-492F-4437-1FBF4A9804A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10972800" y="16992600"/>
            <a:ext cx="16611600" cy="1495044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1F945769-1AF2-FF8B-BC03-CCC30F576816}"/>
              </a:ext>
            </a:extLst>
          </p:cNvPr>
          <p:cNvSpPr/>
          <p:nvPr/>
        </p:nvSpPr>
        <p:spPr>
          <a:xfrm>
            <a:off x="12192000" y="16535400"/>
            <a:ext cx="2971800" cy="152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93713" indent="-493713" algn="r">
              <a:lnSpc>
                <a:spcPts val="4720"/>
              </a:lnSpc>
            </a:pPr>
            <a:r>
              <a:rPr lang="en-GB" sz="1800" b="1" u="sng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CMU Sans Serif Medium" panose="02000603000000000000" pitchFamily="2" charset="0"/>
                <a:cs typeface="Arial" panose="020B0604020202020204" pitchFamily="34" charset="0"/>
              </a:rPr>
              <a:t>Solution name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FF76D5D-9ED3-930A-109E-D74752F73928}"/>
              </a:ext>
            </a:extLst>
          </p:cNvPr>
          <p:cNvSpPr/>
          <p:nvPr/>
        </p:nvSpPr>
        <p:spPr>
          <a:xfrm>
            <a:off x="15011400" y="16230600"/>
            <a:ext cx="4191000" cy="152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93713" indent="-493713" algn="r"/>
            <a:r>
              <a:rPr lang="en-GB" sz="1800" b="1" u="sng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CMU Sans Serif Medium" panose="02000603000000000000" pitchFamily="2" charset="0"/>
                <a:cs typeface="Arial" panose="020B0604020202020204" pitchFamily="34" charset="0"/>
              </a:rPr>
              <a:t>Solution priorities for 4 </a:t>
            </a:r>
          </a:p>
          <a:p>
            <a:pPr marL="493713" indent="-493713" algn="r"/>
            <a:r>
              <a:rPr lang="en-GB" sz="1800" b="1" u="sng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CMU Sans Serif Medium" panose="02000603000000000000" pitchFamily="2" charset="0"/>
                <a:cs typeface="Arial" panose="020B0604020202020204" pitchFamily="34" charset="0"/>
              </a:rPr>
              <a:t>types of cities with</a:t>
            </a:r>
          </a:p>
          <a:p>
            <a:pPr marL="493713" indent="-493713" algn="r"/>
            <a:r>
              <a:rPr lang="en-GB" sz="1800" b="1" u="sng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CMU Sans Serif Medium" panose="02000603000000000000" pitchFamily="2" charset="0"/>
                <a:cs typeface="Arial" panose="020B0604020202020204" pitchFamily="34" charset="0"/>
              </a:rPr>
              <a:t> a count of studies 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660A2ECE-CF1A-248D-C2FF-886E0D3045B7}"/>
              </a:ext>
            </a:extLst>
          </p:cNvPr>
          <p:cNvSpPr/>
          <p:nvPr/>
        </p:nvSpPr>
        <p:spPr>
          <a:xfrm>
            <a:off x="20878800" y="16535400"/>
            <a:ext cx="2971800" cy="152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93713" indent="-493713" algn="r">
              <a:lnSpc>
                <a:spcPts val="4720"/>
              </a:lnSpc>
            </a:pPr>
            <a:r>
              <a:rPr lang="en-GB" sz="1800" b="1" u="sng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CMU Sans Serif Medium" panose="02000603000000000000" pitchFamily="2" charset="0"/>
                <a:cs typeface="Arial" panose="020B0604020202020204" pitchFamily="34" charset="0"/>
              </a:rPr>
              <a:t>Solution name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0F552721-122C-D093-E4BB-C79BB3870AC7}"/>
              </a:ext>
            </a:extLst>
          </p:cNvPr>
          <p:cNvSpPr/>
          <p:nvPr/>
        </p:nvSpPr>
        <p:spPr>
          <a:xfrm>
            <a:off x="23317200" y="16230600"/>
            <a:ext cx="4191000" cy="152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93713" indent="-493713" algn="r"/>
            <a:r>
              <a:rPr lang="en-GB" sz="1800" b="1" u="sng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CMU Sans Serif Medium" panose="02000603000000000000" pitchFamily="2" charset="0"/>
                <a:cs typeface="Arial" panose="020B0604020202020204" pitchFamily="34" charset="0"/>
              </a:rPr>
              <a:t>Solution priorities for 4 </a:t>
            </a:r>
          </a:p>
          <a:p>
            <a:pPr marL="493713" indent="-493713" algn="r"/>
            <a:r>
              <a:rPr lang="en-GB" sz="1800" b="1" u="sng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CMU Sans Serif Medium" panose="02000603000000000000" pitchFamily="2" charset="0"/>
                <a:cs typeface="Arial" panose="020B0604020202020204" pitchFamily="34" charset="0"/>
              </a:rPr>
              <a:t>types of cities with</a:t>
            </a:r>
          </a:p>
          <a:p>
            <a:pPr marL="493713" indent="-493713" algn="r"/>
            <a:r>
              <a:rPr lang="en-GB" sz="1800" b="1" u="sng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CMU Sans Serif Medium" panose="02000603000000000000" pitchFamily="2" charset="0"/>
                <a:cs typeface="Arial" panose="020B0604020202020204" pitchFamily="34" charset="0"/>
              </a:rPr>
              <a:t> a count of studies </a:t>
            </a:r>
          </a:p>
        </p:txBody>
      </p:sp>
      <p:pic>
        <p:nvPicPr>
          <p:cNvPr id="125" name="Picture 124">
            <a:extLst>
              <a:ext uri="{FF2B5EF4-FFF2-40B4-BE49-F238E27FC236}">
                <a16:creationId xmlns:a16="http://schemas.microsoft.com/office/drawing/2014/main" id="{82437C04-CF32-D4F9-9CA7-221B977BD4F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722458" y="14554200"/>
            <a:ext cx="10559142" cy="7391400"/>
          </a:xfrm>
          <a:prstGeom prst="rect">
            <a:avLst/>
          </a:prstGeom>
        </p:spPr>
      </p:pic>
      <p:sp>
        <p:nvSpPr>
          <p:cNvPr id="127" name="TextBox 126">
            <a:extLst>
              <a:ext uri="{FF2B5EF4-FFF2-40B4-BE49-F238E27FC236}">
                <a16:creationId xmlns:a16="http://schemas.microsoft.com/office/drawing/2014/main" id="{95D5235D-26F6-843D-6F52-15345ED394ED}"/>
              </a:ext>
            </a:extLst>
          </p:cNvPr>
          <p:cNvSpPr txBox="1"/>
          <p:nvPr/>
        </p:nvSpPr>
        <p:spPr>
          <a:xfrm>
            <a:off x="32842200" y="2362200"/>
            <a:ext cx="10439400" cy="1204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pPr>
              <a:lnSpc>
                <a:spcPts val="5500"/>
              </a:lnSpc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1) </a:t>
            </a: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Development first: </a:t>
            </a:r>
          </a:p>
          <a:p>
            <a:pPr marL="587375" indent="-587375">
              <a:lnSpc>
                <a:spcPts val="5500"/>
              </a:lnSpc>
              <a:buFontTx/>
              <a:buChar char="-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low emissions and GDP, high cooling needs</a:t>
            </a:r>
          </a:p>
          <a:p>
            <a:pPr marL="587375" indent="-587375">
              <a:lnSpc>
                <a:spcPts val="5500"/>
              </a:lnSpc>
              <a:buFontTx/>
              <a:buChar char="-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infrastructure focus, adaptation needs, low mitigation priority</a:t>
            </a:r>
          </a:p>
          <a:p>
            <a:pPr>
              <a:lnSpc>
                <a:spcPts val="5500"/>
              </a:lnSpc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2) </a:t>
            </a: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Mitigation first: </a:t>
            </a:r>
          </a:p>
          <a:p>
            <a:pPr marL="571500" indent="-571500">
              <a:lnSpc>
                <a:spcPts val="5500"/>
              </a:lnSpc>
              <a:buFontTx/>
              <a:buChar char="-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large emitters, low density, heating needs</a:t>
            </a:r>
          </a:p>
          <a:p>
            <a:pPr marL="571500" indent="-571500">
              <a:lnSpc>
                <a:spcPts val="5500"/>
              </a:lnSpc>
              <a:buFontTx/>
              <a:buChar char="-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high mitigation priority, specific adaptation needs</a:t>
            </a:r>
          </a:p>
          <a:p>
            <a:pPr marL="587375" indent="-587375">
              <a:lnSpc>
                <a:spcPts val="5500"/>
              </a:lnSpc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3) </a:t>
            </a: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Urban planning first:</a:t>
            </a:r>
          </a:p>
          <a:p>
            <a:pPr marL="587375" indent="-587375">
              <a:lnSpc>
                <a:spcPts val="5500"/>
              </a:lnSpc>
              <a:buFontTx/>
              <a:buChar char="-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Relatively low population, sprawled development, and low levels of critical infrastructure</a:t>
            </a:r>
          </a:p>
          <a:p>
            <a:pPr marL="587375" indent="-587375">
              <a:lnSpc>
                <a:spcPts val="5500"/>
              </a:lnSpc>
              <a:buFontTx/>
              <a:buChar char="-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Adaptation needs and mitigation potential through urban planning</a:t>
            </a:r>
          </a:p>
          <a:p>
            <a:pPr>
              <a:lnSpc>
                <a:spcPts val="5500"/>
              </a:lnSpc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4) </a:t>
            </a:r>
            <a:r>
              <a:rPr lang="en-US" sz="3600" b="1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Mega all in</a:t>
            </a:r>
          </a:p>
          <a:p>
            <a:pPr marL="587375" indent="-587375">
              <a:lnSpc>
                <a:spcPts val="5500"/>
              </a:lnSpc>
              <a:buFontTx/>
              <a:buChar char="-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High population growth, high levels of critical infrastructure, and high mean CO2 emissions</a:t>
            </a:r>
          </a:p>
          <a:p>
            <a:pPr marL="587375" indent="-587375">
              <a:lnSpc>
                <a:spcPts val="5500"/>
              </a:lnSpc>
              <a:buFontTx/>
              <a:buChar char="-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High mitigation and adaptation priorities coupled with development needs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015C6D8-C350-15CB-71B5-679F98E481C2}"/>
              </a:ext>
            </a:extLst>
          </p:cNvPr>
          <p:cNvSpPr txBox="1"/>
          <p:nvPr/>
        </p:nvSpPr>
        <p:spPr>
          <a:xfrm>
            <a:off x="27508200" y="17101749"/>
            <a:ext cx="3048000" cy="13971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3480"/>
              </a:lnSpc>
              <a:buFont typeface="Arial" panose="020B0604020202020204" pitchFamily="34" charset="0"/>
              <a:buChar char="•"/>
            </a:pPr>
            <a:r>
              <a:rPr lang="en-GB" sz="20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Mitigation first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and </a:t>
            </a:r>
            <a:r>
              <a:rPr lang="en-GB" sz="20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Mega all in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cities need—but not exclusively—</a:t>
            </a:r>
            <a:r>
              <a:rPr lang="en-GB" sz="20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tech-based solutions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(e.g., BEVs, smart homes). Large evidence base supports learning from successful examples (1000+ studies).</a:t>
            </a:r>
          </a:p>
          <a:p>
            <a:pPr marL="342900" indent="-342900">
              <a:lnSpc>
                <a:spcPts val="3480"/>
              </a:lnSpc>
              <a:buFont typeface="Arial" panose="020B0604020202020204" pitchFamily="34" charset="0"/>
              <a:buChar char="•"/>
            </a:pPr>
            <a:endParaRPr lang="en-GB" sz="2000" dirty="0">
              <a:solidFill>
                <a:schemeClr val="bg1">
                  <a:lumMod val="50000"/>
                </a:schemeClr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  <a:p>
            <a:pPr marL="342900" indent="-342900">
              <a:lnSpc>
                <a:spcPts val="3480"/>
              </a:lnSpc>
              <a:buFont typeface="Arial" panose="020B0604020202020204" pitchFamily="34" charset="0"/>
              <a:buChar char="•"/>
            </a:pPr>
            <a:r>
              <a:rPr lang="en-GB" sz="20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Development first and Urban planning first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show priorities in heat &amp; thermal management and food, more leaning towards </a:t>
            </a:r>
            <a:r>
              <a:rPr lang="en-GB" sz="2000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behavioral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solutions, but the evidence base is much smaller.</a:t>
            </a:r>
          </a:p>
          <a:p>
            <a:pPr marL="342900" indent="-342900">
              <a:lnSpc>
                <a:spcPts val="3480"/>
              </a:lnSpc>
              <a:buFont typeface="Arial" panose="020B0604020202020204" pitchFamily="34" charset="0"/>
              <a:buChar char="•"/>
            </a:pPr>
            <a:endParaRPr lang="en-GB" sz="2000" dirty="0">
              <a:solidFill>
                <a:schemeClr val="bg1">
                  <a:lumMod val="50000"/>
                </a:schemeClr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  <a:p>
            <a:pPr marL="342900" indent="-342900">
              <a:lnSpc>
                <a:spcPts val="3480"/>
              </a:lnSpc>
              <a:buFont typeface="Arial" panose="020B0604020202020204" pitchFamily="34" charset="0"/>
              <a:buChar char="•"/>
            </a:pPr>
            <a:r>
              <a:rPr lang="en-GB" sz="20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Waste &amp; circular economy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solutions rank high but show the </a:t>
            </a:r>
            <a:r>
              <a:rPr lang="en-GB" sz="20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largest evidence gaps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.</a:t>
            </a:r>
          </a:p>
          <a:p>
            <a:pPr marL="342900" indent="-342900">
              <a:lnSpc>
                <a:spcPts val="3480"/>
              </a:lnSpc>
              <a:buFont typeface="Arial" panose="020B0604020202020204" pitchFamily="34" charset="0"/>
              <a:buChar char="•"/>
            </a:pPr>
            <a:endParaRPr lang="en-GB" sz="2000" dirty="0">
              <a:solidFill>
                <a:schemeClr val="bg1">
                  <a:lumMod val="50000"/>
                </a:schemeClr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  <a:p>
            <a:pPr marL="342900" indent="-342900">
              <a:lnSpc>
                <a:spcPts val="3480"/>
              </a:lnSpc>
              <a:buFont typeface="Arial" panose="020B0604020202020204" pitchFamily="34" charset="0"/>
              <a:buChar char="•"/>
            </a:pPr>
            <a:r>
              <a:rPr lang="en-GB" sz="20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Disaster risk management is scoring high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in all types of cities</a:t>
            </a:r>
          </a:p>
        </p:txBody>
      </p:sp>
      <p:pic>
        <p:nvPicPr>
          <p:cNvPr id="141" name="Picture 140" descr="A qr code with a white background&#10;&#10;Description automatically generated">
            <a:extLst>
              <a:ext uri="{FF2B5EF4-FFF2-40B4-BE49-F238E27FC236}">
                <a16:creationId xmlns:a16="http://schemas.microsoft.com/office/drawing/2014/main" id="{E5F37565-EE6C-65FA-5E33-67B27C447C5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6000" y="29946600"/>
            <a:ext cx="2133600" cy="2133600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78C83248-C424-26F1-B310-D62B78055EA5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 amt="66000"/>
          </a:blip>
          <a:stretch>
            <a:fillRect/>
          </a:stretch>
        </p:blipFill>
        <p:spPr>
          <a:xfrm>
            <a:off x="36728400" y="30632400"/>
            <a:ext cx="1840832" cy="1568116"/>
          </a:xfrm>
          <a:prstGeom prst="rect">
            <a:avLst/>
          </a:prstGeom>
        </p:spPr>
      </p:pic>
      <p:pic>
        <p:nvPicPr>
          <p:cNvPr id="147" name="Picture 146">
            <a:extLst>
              <a:ext uri="{FF2B5EF4-FFF2-40B4-BE49-F238E27FC236}">
                <a16:creationId xmlns:a16="http://schemas.microsoft.com/office/drawing/2014/main" id="{20E3CF0F-F934-1F84-EB84-89A1140E033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471600" y="29461047"/>
            <a:ext cx="3272588" cy="1388947"/>
          </a:xfrm>
          <a:prstGeom prst="rect">
            <a:avLst/>
          </a:prstGeom>
        </p:spPr>
      </p:pic>
      <p:pic>
        <p:nvPicPr>
          <p:cNvPr id="145" name="Picture 144">
            <a:extLst>
              <a:ext uri="{FF2B5EF4-FFF2-40B4-BE49-F238E27FC236}">
                <a16:creationId xmlns:a16="http://schemas.microsoft.com/office/drawing/2014/main" id="{C630FB3E-22C8-79C5-CCD0-8A0CADDC20E1}"/>
              </a:ext>
            </a:extLst>
          </p:cNvPr>
          <p:cNvPicPr>
            <a:picLocks noChangeAspect="1"/>
          </p:cNvPicPr>
          <p:nvPr/>
        </p:nvPicPr>
        <p:blipFill>
          <a:blip r:embed="rId17">
            <a:alphaModFix amt="53000"/>
          </a:blip>
          <a:stretch>
            <a:fillRect/>
          </a:stretch>
        </p:blipFill>
        <p:spPr>
          <a:xfrm>
            <a:off x="41224200" y="30708600"/>
            <a:ext cx="1295400" cy="1295400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D56B808B-8919-7911-270A-2D6AAE5844D1}"/>
              </a:ext>
            </a:extLst>
          </p:cNvPr>
          <p:cNvPicPr>
            <a:picLocks noChangeAspect="1"/>
          </p:cNvPicPr>
          <p:nvPr/>
        </p:nvPicPr>
        <p:blipFill>
          <a:blip r:embed="rId18">
            <a:alphaModFix amt="78000"/>
          </a:blip>
          <a:stretch>
            <a:fillRect/>
          </a:stretch>
        </p:blipFill>
        <p:spPr>
          <a:xfrm>
            <a:off x="38709600" y="31165800"/>
            <a:ext cx="2386264" cy="779189"/>
          </a:xfrm>
          <a:prstGeom prst="rect">
            <a:avLst/>
          </a:prstGeom>
        </p:spPr>
      </p:pic>
      <p:pic>
        <p:nvPicPr>
          <p:cNvPr id="15" name="Picture 14" descr="Shape&#10;&#10;Description automatically generated with low confidence">
            <a:extLst>
              <a:ext uri="{FF2B5EF4-FFF2-40B4-BE49-F238E27FC236}">
                <a16:creationId xmlns:a16="http://schemas.microsoft.com/office/drawing/2014/main" id="{ADDB59EE-4F3C-2897-E5AC-B4D7A90D004C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34775" y="30154200"/>
            <a:ext cx="1777598" cy="1777598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9ECD57AD-083E-BA0B-7A2D-CEDDBB91EB1D}"/>
              </a:ext>
            </a:extLst>
          </p:cNvPr>
          <p:cNvSpPr txBox="1"/>
          <p:nvPr/>
        </p:nvSpPr>
        <p:spPr>
          <a:xfrm>
            <a:off x="10972800" y="21945600"/>
            <a:ext cx="228600" cy="39416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CH" dirty="0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8F3B72F-4E10-04E9-F122-6FB18F226407}"/>
              </a:ext>
            </a:extLst>
          </p:cNvPr>
          <p:cNvSpPr txBox="1"/>
          <p:nvPr/>
        </p:nvSpPr>
        <p:spPr>
          <a:xfrm>
            <a:off x="21793200" y="30632400"/>
            <a:ext cx="6096000" cy="13284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CH" dirty="0"/>
          </a:p>
        </p:txBody>
      </p:sp>
      <p:pic>
        <p:nvPicPr>
          <p:cNvPr id="154" name="Picture 153">
            <a:extLst>
              <a:ext uri="{FF2B5EF4-FFF2-40B4-BE49-F238E27FC236}">
                <a16:creationId xmlns:a16="http://schemas.microsoft.com/office/drawing/2014/main" id="{07BAB532-4861-9D27-50B2-1684225A03AC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2326600" y="30480000"/>
            <a:ext cx="5143500" cy="1143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16.09.30"/>
  <p:tag name="AS_TITLE" val="Aspose.Slides for .NET 4.0"/>
  <p:tag name="AS_VERSION" val="16.9.0.0"/>
  <p:tag name="MAKESIGNSTEMPLATE" val="persuadingsapphire|09-2018"/>
</p:tagLst>
</file>

<file path=ppt/theme/theme1.xml><?xml version="1.0" encoding="utf-8"?>
<a:theme xmlns:a="http://schemas.openxmlformats.org/drawingml/2006/main" name="Blank Presentation">
  <a:themeElements>
    <a:clrScheme name="Metro">
      <a:dk1>
        <a:sysClr val="windowText" lastClr="000000"/>
      </a:dk1>
      <a:lt1>
        <a:sysClr val="window" lastClr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EB80A"/>
      </a:accent3>
      <a:accent4>
        <a:srgbClr val="00ADDC"/>
      </a:accent4>
      <a:accent5>
        <a:srgbClr val="738AC8"/>
      </a:accent5>
      <a:accent6>
        <a:srgbClr val="1AB39F"/>
      </a:accent6>
      <a:hlink>
        <a:srgbClr val="EB8803"/>
      </a:hlink>
      <a:folHlink>
        <a:srgbClr val="5F7791"/>
      </a:folHlink>
    </a:clrScheme>
    <a:fontScheme name="Blank Presentation">
      <a:majorFont>
        <a:latin typeface="Times New Roman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19690</TotalTime>
  <Words>631</Words>
  <Application>Microsoft Macintosh PowerPoint</Application>
  <PresentationFormat>Custom</PresentationFormat>
  <Paragraphs>67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Times New Roman</vt:lpstr>
      <vt:lpstr>CMU SANS SERIF MEDIUM</vt:lpstr>
      <vt:lpstr>Wingdings</vt:lpstr>
      <vt:lpstr>CMU Sans Serif</vt:lpstr>
      <vt:lpstr>Blank Presentation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to make a scientific poster</dc:title>
  <dc:subject>Free Poster Presentation Example</dc:subject>
  <dc:creator>Graphicsland/MakeSigns.com</dc:creator>
  <cp:keywords>scientific, research, template, custom, poster, presentation, symposium, printing, PowerPoint, create, design, example, sample, download</cp:keywords>
  <dc:description>This is a free template from MakeSigns.com to help you create the perfect scientific poster.</dc:description>
  <cp:lastModifiedBy>Simon Andres Montfort</cp:lastModifiedBy>
  <cp:revision>383</cp:revision>
  <cp:lastPrinted>2025-09-06T11:14:44Z</cp:lastPrinted>
  <dcterms:modified xsi:type="dcterms:W3CDTF">2025-09-06T11:33:20Z</dcterms:modified>
  <cp:category>templates for scientific poster</cp:category>
</cp:coreProperties>
</file>